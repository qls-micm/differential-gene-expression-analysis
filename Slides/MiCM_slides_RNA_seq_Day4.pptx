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48" r:id="rId1"/>
  </p:sldMasterIdLst>
  <p:notesMasterIdLst>
    <p:notesMasterId r:id="rId46"/>
  </p:notesMasterIdLst>
  <p:sldIdLst>
    <p:sldId id="256" r:id="rId2"/>
    <p:sldId id="257" r:id="rId3"/>
    <p:sldId id="258" r:id="rId4"/>
    <p:sldId id="326" r:id="rId5"/>
    <p:sldId id="259" r:id="rId6"/>
    <p:sldId id="545" r:id="rId7"/>
    <p:sldId id="300" r:id="rId8"/>
    <p:sldId id="549" r:id="rId9"/>
    <p:sldId id="323" r:id="rId10"/>
    <p:sldId id="516" r:id="rId11"/>
    <p:sldId id="325" r:id="rId12"/>
    <p:sldId id="521" r:id="rId13"/>
    <p:sldId id="523" r:id="rId14"/>
    <p:sldId id="551" r:id="rId15"/>
    <p:sldId id="528" r:id="rId16"/>
    <p:sldId id="529" r:id="rId17"/>
    <p:sldId id="552" r:id="rId18"/>
    <p:sldId id="530" r:id="rId19"/>
    <p:sldId id="531" r:id="rId20"/>
    <p:sldId id="553" r:id="rId21"/>
    <p:sldId id="533" r:id="rId22"/>
    <p:sldId id="534" r:id="rId23"/>
    <p:sldId id="535" r:id="rId24"/>
    <p:sldId id="554" r:id="rId25"/>
    <p:sldId id="556" r:id="rId26"/>
    <p:sldId id="558" r:id="rId27"/>
    <p:sldId id="555" r:id="rId28"/>
    <p:sldId id="291" r:id="rId29"/>
    <p:sldId id="320" r:id="rId30"/>
    <p:sldId id="537" r:id="rId31"/>
    <p:sldId id="538" r:id="rId32"/>
    <p:sldId id="539" r:id="rId33"/>
    <p:sldId id="540" r:id="rId34"/>
    <p:sldId id="541" r:id="rId35"/>
    <p:sldId id="321" r:id="rId36"/>
    <p:sldId id="543" r:id="rId37"/>
    <p:sldId id="544" r:id="rId38"/>
    <p:sldId id="317" r:id="rId39"/>
    <p:sldId id="525" r:id="rId40"/>
    <p:sldId id="536" r:id="rId41"/>
    <p:sldId id="324" r:id="rId42"/>
    <p:sldId id="322" r:id="rId43"/>
    <p:sldId id="517" r:id="rId44"/>
    <p:sldId id="518" r:id="rId45"/>
  </p:sldIdLst>
  <p:sldSz cx="9144000" cy="6858000" type="screen4x3"/>
  <p:notesSz cx="6858000" cy="9144000"/>
  <p:embeddedFontLst>
    <p:embeddedFont>
      <p:font typeface="Kigelia" panose="020B0503040502020203" pitchFamily="34" charset="0"/>
      <p:regular r:id="rId47"/>
      <p:bold r:id="rId48"/>
      <p:italic r:id="rId49"/>
      <p:boldItalic r:id="rId50"/>
    </p:embeddedFont>
    <p:embeddedFont>
      <p:font typeface="Open Sans Light" panose="020B0306030504020204" pitchFamily="34" charset="0"/>
      <p:regular r:id="rId51"/>
      <p:bold r:id="rId52"/>
      <p:italic r:id="rId53"/>
      <p:boldItalic r:id="rId54"/>
    </p:embeddedFont>
    <p:embeddedFont>
      <p:font typeface="Univers Light" panose="020B0403020202020204" pitchFamily="34" charset="0"/>
      <p:regular r:id="rId5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82" roundtripDataSignature="AMtx7mgX0Ud/ncAW1nzs8h8v2YrO8ahS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04A89"/>
    <a:srgbClr val="F51D3D"/>
    <a:srgbClr val="6921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4314" autoAdjust="0"/>
  </p:normalViewPr>
  <p:slideViewPr>
    <p:cSldViewPr snapToGrid="0" snapToObjects="1">
      <p:cViewPr varScale="1">
        <p:scale>
          <a:sx n="53" d="100"/>
          <a:sy n="53" d="100"/>
        </p:scale>
        <p:origin x="166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1.fntdata"/><Relationship Id="rId50" Type="http://schemas.openxmlformats.org/officeDocument/2006/relationships/font" Target="fonts/font4.fntdata"/><Relationship Id="rId55" Type="http://schemas.openxmlformats.org/officeDocument/2006/relationships/font" Target="fonts/font9.fntdata"/><Relationship Id="rId84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7.fntdata"/><Relationship Id="rId5" Type="http://schemas.openxmlformats.org/officeDocument/2006/relationships/slide" Target="slides/slide4.xml"/><Relationship Id="rId82" Type="http://customschemas.google.com/relationships/presentationmetadata" Target="metadata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font" Target="fonts/font5.fntdata"/><Relationship Id="rId85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8.fntdata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6.fntdata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 dirty="0"/>
              <a:t>Do introduction</a:t>
            </a:r>
            <a:endParaRPr dirty="0"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The McGill initiative on Computational Medicine was formed in 2017 and aims to deliver inter-disciplinary research programs and empower the use of data in health research and health care delivery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Located at the Genome Center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They have a newsletter were you can subscribe to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CA" sz="1200"/>
              <a:t>more info on the web site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CA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9353f05b57_0_3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g19353f05b57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9353f05b57_0_3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g19353f05b57_0_3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67979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92f3904c50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92f3904c50_0_19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192f3904c50_0_19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E8053FA7-715D-04CB-089F-E3F706641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92f3904c50_0_192:notes">
            <a:extLst>
              <a:ext uri="{FF2B5EF4-FFF2-40B4-BE49-F238E27FC236}">
                <a16:creationId xmlns:a16="http://schemas.microsoft.com/office/drawing/2014/main" id="{A9266901-2692-B801-B78A-B898BE956A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192f3904c50_0_192:notes">
            <a:extLst>
              <a:ext uri="{FF2B5EF4-FFF2-40B4-BE49-F238E27FC236}">
                <a16:creationId xmlns:a16="http://schemas.microsoft.com/office/drawing/2014/main" id="{1348B8F2-4E4C-525B-5663-DD47FAE518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192f3904c50_0_192:notes">
            <a:extLst>
              <a:ext uri="{FF2B5EF4-FFF2-40B4-BE49-F238E27FC236}">
                <a16:creationId xmlns:a16="http://schemas.microsoft.com/office/drawing/2014/main" id="{35EA3F40-FF81-64A4-6FD0-F536D8178A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93885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38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b="0" i="0" dirty="0">
                <a:solidFill>
                  <a:srgbClr val="24292F"/>
                </a:solidFill>
                <a:effectLst/>
                <a:latin typeface="-apple-system"/>
              </a:rPr>
              <a:t>To determine differentially expressed genes, we evaluate the </a:t>
            </a:r>
            <a:r>
              <a:rPr lang="en-CA" b="1" i="0" dirty="0">
                <a:solidFill>
                  <a:srgbClr val="24292F"/>
                </a:solidFill>
                <a:effectLst/>
                <a:latin typeface="-apple-system"/>
              </a:rPr>
              <a:t>variation of expression between groups (of interest) and compare that to the variation within the groups</a:t>
            </a:r>
            <a:r>
              <a:rPr lang="en-CA" b="0" i="0" dirty="0">
                <a:solidFill>
                  <a:srgbClr val="24292F"/>
                </a:solidFill>
                <a:effectLst/>
                <a:latin typeface="-apple-system"/>
              </a:rPr>
              <a:t> (</a:t>
            </a:r>
            <a:r>
              <a:rPr lang="en-CA" b="1" i="0" u="sng" dirty="0">
                <a:solidFill>
                  <a:srgbClr val="24292F"/>
                </a:solidFill>
                <a:effectLst/>
                <a:latin typeface="-apple-system"/>
              </a:rPr>
              <a:t>between replicates</a:t>
            </a:r>
            <a:r>
              <a:rPr lang="en-CA" b="0" i="0" dirty="0">
                <a:solidFill>
                  <a:srgbClr val="24292F"/>
                </a:solidFill>
                <a:effectLst/>
                <a:latin typeface="-apple-system"/>
              </a:rPr>
              <a:t>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9843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9115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353025DA-616B-02AC-8943-C83D71A45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E8FF07AC-7C57-C2EE-2219-6995CDBEB2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4778D889-A7D7-6EDC-EBCE-D7BD73412A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18D5004D-6C61-63A8-F1D0-D8F0BACA2D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81559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19E1EF02-C099-D056-95E9-B2044729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56F6A90D-524E-E49C-E08F-139EEF75F9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0603614B-0953-4F06-5863-BBFB56C142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B897392D-68CB-0913-EE2B-AF991BCD61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03501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818D1CFA-9912-BE77-EE22-5D2E87A5C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95101383-259A-3D6D-E75A-588D9168B3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5860F19C-EEF2-8429-CF4C-BFB63C94ED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92C09B02-ED1B-AE59-9E83-2B694C8040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42512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D6F15A05-1E92-A33B-EF19-B80D2A6DF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D06A55FE-2508-5E89-C0CA-0B38C87561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D5BE8607-0DA8-8ACF-EA0E-C85856422F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A28A24FF-F43B-76D7-4A77-807678608A8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15975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92f3904c5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g192f3904c50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7" name="Google Shape;487;g192f3904c50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28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91102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053FD0D0-3CFF-EAF3-EE1E-423FD6104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1CB62848-0F95-FC4E-3FAF-390561DA4F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74C20157-7907-ECC4-8421-89E86C7620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CE973E16-4D33-64AC-51A6-FB6F1661EA1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65171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6A113E98-53DD-B1C1-452F-6C4882934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E90F79B0-C069-F3C7-3AD4-9A246B039A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81EE87AF-D40A-E7A5-E499-B92F76BDB3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E92CCCF4-4049-D655-F81F-7467D0CCEB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947284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192f3904c5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6" name="Google Shape;486;g192f3904c50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7" name="Google Shape;487;g192f3904c50_0_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8349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0F4D9793-9AB2-598E-6B05-73CCCB1C9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9EF8C02C-FFE7-4AF4-CB09-F1F053684E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87036988-9968-9A74-C1B8-829A67537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C8EB83E5-DF79-DD5B-18E4-FEA2D5157E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863272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>
          <a:extLst>
            <a:ext uri="{FF2B5EF4-FFF2-40B4-BE49-F238E27FC236}">
              <a16:creationId xmlns:a16="http://schemas.microsoft.com/office/drawing/2014/main" id="{2AEFEAE7-581F-45A9-2637-853CE6E43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>
            <a:extLst>
              <a:ext uri="{FF2B5EF4-FFF2-40B4-BE49-F238E27FC236}">
                <a16:creationId xmlns:a16="http://schemas.microsoft.com/office/drawing/2014/main" id="{FDB85399-74E0-ACAB-B73B-2C7CC433C6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>
            <a:extLst>
              <a:ext uri="{FF2B5EF4-FFF2-40B4-BE49-F238E27FC236}">
                <a16:creationId xmlns:a16="http://schemas.microsoft.com/office/drawing/2014/main" id="{DADA6E9C-8900-479E-F44A-2F325EBC68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2" name="Google Shape;572;g192f3904c50_0_11:notes">
            <a:extLst>
              <a:ext uri="{FF2B5EF4-FFF2-40B4-BE49-F238E27FC236}">
                <a16:creationId xmlns:a16="http://schemas.microsoft.com/office/drawing/2014/main" id="{66CFDC4F-B92B-8F97-A5D6-9591E83B7E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38100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19442820507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0" name="Google Shape;760;g19442820507_0_1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61" name="Google Shape;761;g19442820507_0_1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38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92691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92f3904c5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1" name="Google Shape;571;g192f3904c50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Both are GLM using NB to model counts</a:t>
            </a:r>
            <a:endParaRPr dirty="0"/>
          </a:p>
        </p:txBody>
      </p:sp>
      <p:sp>
        <p:nvSpPr>
          <p:cNvPr id="572" name="Google Shape;572;g192f3904c50_0_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CA"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633743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BD60B-517C-4242-AE46-E1BD2D086542}" type="slidenum">
              <a:rPr lang="fr-FR" smtClean="0"/>
              <a:t>43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33700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Diapositive de titre">
  <p:cSld name="2_Diapositive de titre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/>
          <p:nvPr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7"/>
          <p:cNvSpPr/>
          <p:nvPr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rgbClr val="BBE1E5"/>
          </a:solidFill>
          <a:ln w="12700" cap="flat" cmpd="sng">
            <a:solidFill>
              <a:srgbClr val="C6E4D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36548" y="121579"/>
            <a:ext cx="4197350" cy="101295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7"/>
          <p:cNvSpPr txBox="1">
            <a:spLocks noGrp="1"/>
          </p:cNvSpPr>
          <p:nvPr>
            <p:ph type="title"/>
          </p:nvPr>
        </p:nvSpPr>
        <p:spPr>
          <a:xfrm>
            <a:off x="623888" y="1709741"/>
            <a:ext cx="7886700" cy="285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8"/>
          <p:cNvSpPr txBox="1"/>
          <p:nvPr/>
        </p:nvSpPr>
        <p:spPr>
          <a:xfrm>
            <a:off x="8305801" y="6620932"/>
            <a:ext cx="184731" cy="23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8"/>
          <p:cNvSpPr/>
          <p:nvPr/>
        </p:nvSpPr>
        <p:spPr>
          <a:xfrm>
            <a:off x="0" y="4"/>
            <a:ext cx="9144000" cy="1134533"/>
          </a:xfrm>
          <a:prstGeom prst="rect">
            <a:avLst/>
          </a:prstGeom>
          <a:solidFill>
            <a:srgbClr val="BBE1E5"/>
          </a:solidFill>
          <a:ln w="12700" cap="flat" cmpd="sng">
            <a:solidFill>
              <a:srgbClr val="C6E4D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36548" y="121579"/>
            <a:ext cx="4197350" cy="101295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8"/>
          <p:cNvSpPr txBox="1"/>
          <p:nvPr/>
        </p:nvSpPr>
        <p:spPr>
          <a:xfrm>
            <a:off x="594015" y="1617135"/>
            <a:ext cx="7804150" cy="4863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r>
              <a:rPr lang="en-CA" sz="2002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Mission</a:t>
            </a:r>
            <a:r>
              <a:rPr lang="en-CA" sz="20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aims to deliver inter-disciplinary research programs and empower the use of data in health research and health care delivery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CA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https://www.mcgill.ca/micm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101473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None/>
            </a:pPr>
            <a:endParaRPr sz="200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" name="Google Shape;29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66642" y="2463795"/>
            <a:ext cx="4431523" cy="35221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e de titre">
  <p:cSld name="1_Diapositive de titr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/>
          <p:nvPr/>
        </p:nvSpPr>
        <p:spPr>
          <a:xfrm>
            <a:off x="8305803" y="6620940"/>
            <a:ext cx="184731" cy="23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1"/>
          <p:cNvSpPr/>
          <p:nvPr/>
        </p:nvSpPr>
        <p:spPr>
          <a:xfrm>
            <a:off x="0" y="11"/>
            <a:ext cx="9144000" cy="1134533"/>
          </a:xfrm>
          <a:prstGeom prst="rect">
            <a:avLst/>
          </a:prstGeom>
          <a:solidFill>
            <a:srgbClr val="BBE1E5"/>
          </a:solidFill>
          <a:ln w="12700" cap="flat" cmpd="sng">
            <a:solidFill>
              <a:srgbClr val="C6E4D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2"/>
              <a:buFont typeface="Arial"/>
              <a:buNone/>
            </a:pPr>
            <a:endParaRPr sz="922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336548" y="121586"/>
            <a:ext cx="4197350" cy="101295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11"/>
          <p:cNvSpPr txBox="1">
            <a:spLocks noGrp="1"/>
          </p:cNvSpPr>
          <p:nvPr>
            <p:ph type="body" idx="1"/>
          </p:nvPr>
        </p:nvSpPr>
        <p:spPr>
          <a:xfrm>
            <a:off x="242372" y="1454228"/>
            <a:ext cx="8658743" cy="492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2"/>
          <p:cNvSpPr txBox="1"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seul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3"/>
          <p:cNvSpPr txBox="1"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5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2"/>
              <a:buFont typeface="Calibri"/>
              <a:buNone/>
              <a:defRPr sz="3202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>
            <a:spLocks noGrp="1"/>
          </p:cNvSpPr>
          <p:nvPr>
            <p:ph type="pic" idx="2"/>
          </p:nvPr>
        </p:nvSpPr>
        <p:spPr>
          <a:xfrm>
            <a:off x="3887391" y="987431"/>
            <a:ext cx="4629150" cy="4873628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5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1598"/>
              <a:buNone/>
              <a:defRPr sz="1598"/>
            </a:lvl1pPr>
            <a:lvl2pPr marL="914400" lvl="1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403"/>
              <a:buNone/>
              <a:defRPr sz="1403"/>
            </a:lvl2pPr>
            <a:lvl3pPr marL="1371600" lvl="2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4pPr>
            <a:lvl5pPr marL="2286000" lvl="4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5pPr>
            <a:lvl6pPr marL="2743200" lvl="5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6pPr>
            <a:lvl7pPr marL="3200400" lvl="6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7pPr>
            <a:lvl8pPr marL="3657600" lvl="7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8pPr>
            <a:lvl9pPr marL="4114800" lvl="8" indent="-228600" algn="l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998"/>
              <a:buNone/>
              <a:defRPr sz="997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628650" y="365123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3"/>
              <a:buFont typeface="Calibri"/>
              <a:buNone/>
              <a:defRPr sz="440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628650" y="1825627"/>
            <a:ext cx="7886700" cy="4351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273" algn="l" rtl="0">
              <a:lnSpc>
                <a:spcPct val="90000"/>
              </a:lnSpc>
              <a:spcBef>
                <a:spcPts val="998"/>
              </a:spcBef>
              <a:spcAft>
                <a:spcPts val="0"/>
              </a:spcAft>
              <a:buClr>
                <a:schemeClr val="dk1"/>
              </a:buClr>
              <a:buSzPts val="2798"/>
              <a:buFont typeface="Arial"/>
              <a:buChar char="•"/>
              <a:defRPr sz="27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727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2002"/>
              <a:buFont typeface="Arial"/>
              <a:buChar char="•"/>
              <a:defRPr sz="200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" name="Google Shape;12;p6"/>
          <p:cNvGrpSpPr/>
          <p:nvPr/>
        </p:nvGrpSpPr>
        <p:grpSpPr>
          <a:xfrm>
            <a:off x="-2150" y="6790459"/>
            <a:ext cx="9200548" cy="90488"/>
            <a:chOff x="606161" y="2106824"/>
            <a:chExt cx="6205940" cy="1241188"/>
          </a:xfrm>
        </p:grpSpPr>
        <p:sp>
          <p:nvSpPr>
            <p:cNvPr id="13" name="Google Shape;13;p6"/>
            <p:cNvSpPr/>
            <p:nvPr/>
          </p:nvSpPr>
          <p:spPr>
            <a:xfrm>
              <a:off x="606161" y="2106824"/>
              <a:ext cx="1241028" cy="124118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4" name="Google Shape;14;p6"/>
            <p:cNvSpPr/>
            <p:nvPr/>
          </p:nvSpPr>
          <p:spPr>
            <a:xfrm>
              <a:off x="1847189" y="2106824"/>
              <a:ext cx="1241429" cy="124118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5" name="Google Shape;15;p6"/>
            <p:cNvSpPr/>
            <p:nvPr/>
          </p:nvSpPr>
          <p:spPr>
            <a:xfrm>
              <a:off x="3088617" y="2106824"/>
              <a:ext cx="1241027" cy="124118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6" name="Google Shape;16;p6"/>
            <p:cNvSpPr/>
            <p:nvPr/>
          </p:nvSpPr>
          <p:spPr>
            <a:xfrm>
              <a:off x="4329645" y="2106824"/>
              <a:ext cx="1241429" cy="124118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  <p:sp>
          <p:nvSpPr>
            <p:cNvPr id="17" name="Google Shape;17;p6"/>
            <p:cNvSpPr/>
            <p:nvPr/>
          </p:nvSpPr>
          <p:spPr>
            <a:xfrm>
              <a:off x="5571073" y="2106824"/>
              <a:ext cx="1241028" cy="124118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22"/>
                <a:buFont typeface="Arial"/>
                <a:buNone/>
              </a:pPr>
              <a:endParaRPr sz="922" b="0" i="0" u="none" strike="noStrike" cap="non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endParaRPr>
            </a:p>
          </p:txBody>
        </p:sp>
      </p:grpSp>
      <p:pic>
        <p:nvPicPr>
          <p:cNvPr id="18" name="Google Shape;18;p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84992" y="6411199"/>
            <a:ext cx="1759009" cy="42450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5" r:id="rId5"/>
    <p:sldLayoutId id="2147483656" r:id="rId6"/>
    <p:sldLayoutId id="2147483657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stem.2021.04.028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s://pantherdb.org/" TargetMode="External"/><Relationship Id="rId13" Type="http://schemas.openxmlformats.org/officeDocument/2006/relationships/image" Target="../media/image34.png"/><Relationship Id="rId3" Type="http://schemas.openxmlformats.org/officeDocument/2006/relationships/hyperlink" Target="https://www.gsea-msigdb.org/gsea/msigdb" TargetMode="External"/><Relationship Id="rId7" Type="http://schemas.openxmlformats.org/officeDocument/2006/relationships/hyperlink" Target="https://maayanlab.cloud/Enrichr/" TargetMode="External"/><Relationship Id="rId12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reactome.org/" TargetMode="External"/><Relationship Id="rId11" Type="http://schemas.openxmlformats.org/officeDocument/2006/relationships/image" Target="../media/image32.png"/><Relationship Id="rId5" Type="http://schemas.openxmlformats.org/officeDocument/2006/relationships/hyperlink" Target="https://www.genome.jp/kegg/" TargetMode="External"/><Relationship Id="rId10" Type="http://schemas.openxmlformats.org/officeDocument/2006/relationships/image" Target="../media/image31.png"/><Relationship Id="rId4" Type="http://schemas.openxmlformats.org/officeDocument/2006/relationships/hyperlink" Target="https://geneontology.org/" TargetMode="External"/><Relationship Id="rId9" Type="http://schemas.openxmlformats.org/officeDocument/2006/relationships/image" Target="../media/image30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hyperlink" Target="https://www.mcgill.ca/micm/" TargetMode="External"/><Relationship Id="rId4" Type="http://schemas.openxmlformats.org/officeDocument/2006/relationships/hyperlink" Target="mailto:info-micm@mcgill.ca" TargetMode="External"/><Relationship Id="rId9" Type="http://schemas.openxmlformats.org/officeDocument/2006/relationships/image" Target="../media/image6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7.PNG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/>
          <p:nvPr/>
        </p:nvSpPr>
        <p:spPr>
          <a:xfrm>
            <a:off x="379613" y="1640111"/>
            <a:ext cx="8394300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4800" dirty="0">
                <a:solidFill>
                  <a:srgbClr val="F51D3D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Muli"/>
              </a:rPr>
              <a:t>Functional analysis and interpretation of RNA-seq data</a:t>
            </a:r>
            <a:endParaRPr sz="4800" i="0" strike="noStrike" cap="none" dirty="0">
              <a:solidFill>
                <a:srgbClr val="F51D3D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Muli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3688072" y="3255297"/>
            <a:ext cx="49932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CA" sz="2000" dirty="0">
                <a:latin typeface="Univers Light" panose="020B0403020202020204" pitchFamily="34" charset="0"/>
              </a:rPr>
              <a:t>June 4th</a:t>
            </a:r>
            <a:r>
              <a:rPr lang="en-CA" sz="20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, 2026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CA" sz="2000" dirty="0">
                <a:latin typeface="Univers Light" panose="020B0403020202020204" pitchFamily="34" charset="0"/>
              </a:rPr>
              <a:t>Ariel Madrigal</a:t>
            </a: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lang="en-CA" sz="20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Arsham </a:t>
            </a:r>
            <a:r>
              <a:rPr lang="en-CA" sz="2000" b="0" i="0" u="none" strike="noStrike" cap="none" dirty="0" err="1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Mikaeili</a:t>
            </a:r>
            <a:r>
              <a:rPr lang="en-CA" sz="20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 Namini</a:t>
            </a:r>
            <a:endParaRPr sz="20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pic>
        <p:nvPicPr>
          <p:cNvPr id="8" name="Picture 7" descr="A logo with text on it&#10;&#10;AI-generated content may be incorrect.">
            <a:extLst>
              <a:ext uri="{FF2B5EF4-FFF2-40B4-BE49-F238E27FC236}">
                <a16:creationId xmlns:a16="http://schemas.microsoft.com/office/drawing/2014/main" id="{CC444B2C-F0D5-0B49-2C90-446E90039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750" y="5506833"/>
            <a:ext cx="4056488" cy="8966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A393E1-43D3-AEAC-3229-A1B82FE85F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6119" y="4006516"/>
            <a:ext cx="3467753" cy="1915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2FFF87-CC09-5ED3-3790-99618B5275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636" y="4531138"/>
            <a:ext cx="5148291" cy="7722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C63087-4BBC-6868-18B5-F46B89B8FF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8786" y="5383233"/>
            <a:ext cx="3764464" cy="107821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9353f05b57_0_387"/>
          <p:cNvSpPr txBox="1"/>
          <p:nvPr/>
        </p:nvSpPr>
        <p:spPr>
          <a:xfrm>
            <a:off x="304275" y="1412586"/>
            <a:ext cx="72084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Calibri"/>
              </a:rPr>
              <a:t>Outline: </a:t>
            </a:r>
            <a:endParaRPr sz="32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Calibri"/>
            </a:endParaRPr>
          </a:p>
        </p:txBody>
      </p:sp>
      <p:sp>
        <p:nvSpPr>
          <p:cNvPr id="111" name="Google Shape;111;g19353f05b57_0_387"/>
          <p:cNvSpPr/>
          <p:nvPr/>
        </p:nvSpPr>
        <p:spPr>
          <a:xfrm>
            <a:off x="657250" y="2273683"/>
            <a:ext cx="528600" cy="500100"/>
          </a:xfrm>
          <a:prstGeom prst="ellipse">
            <a:avLst/>
          </a:prstGeom>
          <a:solidFill>
            <a:srgbClr val="CC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19353f05b57_0_387"/>
          <p:cNvSpPr txBox="1"/>
          <p:nvPr/>
        </p:nvSpPr>
        <p:spPr>
          <a:xfrm>
            <a:off x="1285874" y="2168184"/>
            <a:ext cx="7352799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Experimental design and model specification using DESeq2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121" name="Google Shape;121;g19353f05b57_0_387"/>
          <p:cNvSpPr/>
          <p:nvPr/>
        </p:nvSpPr>
        <p:spPr>
          <a:xfrm>
            <a:off x="657250" y="3393433"/>
            <a:ext cx="528600" cy="500100"/>
          </a:xfrm>
          <a:prstGeom prst="ellipse">
            <a:avLst/>
          </a:prstGeom>
          <a:solidFill>
            <a:srgbClr val="3D85C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 b="1" dirty="0"/>
              <a:t>2</a:t>
            </a: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19353f05b57_0_387"/>
          <p:cNvSpPr txBox="1"/>
          <p:nvPr/>
        </p:nvSpPr>
        <p:spPr>
          <a:xfrm>
            <a:off x="1285875" y="3420283"/>
            <a:ext cx="5245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GSEA and ORA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15" name="Google Shape;121;g19353f05b57_0_387">
            <a:extLst>
              <a:ext uri="{FF2B5EF4-FFF2-40B4-BE49-F238E27FC236}">
                <a16:creationId xmlns:a16="http://schemas.microsoft.com/office/drawing/2014/main" id="{1328640D-D9FF-7A42-A8CB-3C519002A34E}"/>
              </a:ext>
            </a:extLst>
          </p:cNvPr>
          <p:cNvSpPr/>
          <p:nvPr/>
        </p:nvSpPr>
        <p:spPr>
          <a:xfrm>
            <a:off x="663346" y="4340393"/>
            <a:ext cx="528600" cy="500100"/>
          </a:xfrm>
          <a:prstGeom prst="ellipse">
            <a:avLst/>
          </a:prstGeom>
          <a:solidFill>
            <a:srgbClr val="A04A89">
              <a:alpha val="52157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CA" sz="1800" b="1" dirty="0">
                <a:solidFill>
                  <a:schemeClr val="tx1"/>
                </a:solidFill>
              </a:rPr>
              <a:t>3</a:t>
            </a:r>
            <a:endParaRPr sz="1800" b="1" i="0" u="none" strike="noStrike" cap="none" dirty="0">
              <a:solidFill>
                <a:schemeClr val="tx1"/>
              </a:solidFill>
              <a:sym typeface="Arial"/>
            </a:endParaRPr>
          </a:p>
        </p:txBody>
      </p:sp>
      <p:sp>
        <p:nvSpPr>
          <p:cNvPr id="16" name="Google Shape;122;g19353f05b57_0_387">
            <a:extLst>
              <a:ext uri="{FF2B5EF4-FFF2-40B4-BE49-F238E27FC236}">
                <a16:creationId xmlns:a16="http://schemas.microsoft.com/office/drawing/2014/main" id="{7DE81327-07F1-EB4D-B068-23E42305AEF5}"/>
              </a:ext>
            </a:extLst>
          </p:cNvPr>
          <p:cNvSpPr txBox="1"/>
          <p:nvPr/>
        </p:nvSpPr>
        <p:spPr>
          <a:xfrm>
            <a:off x="1285873" y="4330935"/>
            <a:ext cx="6450431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US" sz="2400" dirty="0">
                <a:latin typeface="Univers Light" panose="020B0403020202020204" pitchFamily="34" charset="0"/>
              </a:rPr>
              <a:t>R</a:t>
            </a:r>
            <a:r>
              <a:rPr lang="en-CA" sz="2400" dirty="0" err="1">
                <a:latin typeface="Univers Light" panose="020B0403020202020204" pitchFamily="34" charset="0"/>
              </a:rPr>
              <a:t>esources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2" name="Google Shape;121;g19353f05b57_0_387">
            <a:extLst>
              <a:ext uri="{FF2B5EF4-FFF2-40B4-BE49-F238E27FC236}">
                <a16:creationId xmlns:a16="http://schemas.microsoft.com/office/drawing/2014/main" id="{5FB427BD-E812-0F3D-AED4-3C2EFA1175AB}"/>
              </a:ext>
            </a:extLst>
          </p:cNvPr>
          <p:cNvSpPr/>
          <p:nvPr/>
        </p:nvSpPr>
        <p:spPr>
          <a:xfrm>
            <a:off x="663346" y="5297187"/>
            <a:ext cx="528600" cy="500100"/>
          </a:xfrm>
          <a:prstGeom prst="ellipse">
            <a:avLst/>
          </a:prstGeom>
          <a:solidFill>
            <a:srgbClr val="6921C9">
              <a:alpha val="52157"/>
            </a:srgbClr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tx1"/>
                </a:solidFill>
                <a:sym typeface="Arial"/>
              </a:rPr>
              <a:t>4</a:t>
            </a:r>
            <a:endParaRPr sz="1800" b="1" i="0" u="none" strike="noStrike" cap="none" dirty="0">
              <a:solidFill>
                <a:schemeClr val="tx1"/>
              </a:solidFill>
              <a:sym typeface="Arial"/>
            </a:endParaRPr>
          </a:p>
        </p:txBody>
      </p:sp>
      <p:sp>
        <p:nvSpPr>
          <p:cNvPr id="3" name="Google Shape;122;g19353f05b57_0_387">
            <a:extLst>
              <a:ext uri="{FF2B5EF4-FFF2-40B4-BE49-F238E27FC236}">
                <a16:creationId xmlns:a16="http://schemas.microsoft.com/office/drawing/2014/main" id="{CB74704F-39F5-E719-5765-39C3A2E43BFF}"/>
              </a:ext>
            </a:extLst>
          </p:cNvPr>
          <p:cNvSpPr txBox="1"/>
          <p:nvPr/>
        </p:nvSpPr>
        <p:spPr>
          <a:xfrm>
            <a:off x="1291971" y="5324037"/>
            <a:ext cx="52452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Concluding remarks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9353f05b57_0_387"/>
          <p:cNvSpPr txBox="1"/>
          <p:nvPr/>
        </p:nvSpPr>
        <p:spPr>
          <a:xfrm>
            <a:off x="287315" y="1329444"/>
            <a:ext cx="72084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Calibri"/>
              </a:rPr>
              <a:t>Acknowledgements</a:t>
            </a:r>
            <a:endParaRPr sz="32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F8BE76-1CC0-054C-BD74-9B3D6CF3EB64}"/>
              </a:ext>
            </a:extLst>
          </p:cNvPr>
          <p:cNvSpPr txBox="1"/>
          <p:nvPr/>
        </p:nvSpPr>
        <p:spPr>
          <a:xfrm>
            <a:off x="801680" y="2264915"/>
            <a:ext cx="326163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Univers Light" panose="020B0403020202020204" pitchFamily="34" charset="0"/>
              </a:rPr>
              <a:t>Material: </a:t>
            </a:r>
          </a:p>
          <a:p>
            <a:r>
              <a:rPr lang="en-US" sz="2000" dirty="0" err="1">
                <a:latin typeface="Univers Light" panose="020B0403020202020204" pitchFamily="34" charset="0"/>
              </a:rPr>
              <a:t>Reinnier</a:t>
            </a:r>
            <a:r>
              <a:rPr lang="en-US" sz="2000" dirty="0">
                <a:latin typeface="Univers Light" panose="020B0403020202020204" pitchFamily="34" charset="0"/>
              </a:rPr>
              <a:t> Padilla</a:t>
            </a:r>
          </a:p>
          <a:p>
            <a:r>
              <a:rPr lang="en-US" sz="2000" dirty="0">
                <a:latin typeface="Univers Light" panose="020B0403020202020204" pitchFamily="34" charset="0"/>
              </a:rPr>
              <a:t>Adrien Osakwe</a:t>
            </a:r>
          </a:p>
          <a:p>
            <a:endParaRPr lang="en-US" sz="2000" dirty="0">
              <a:latin typeface="Univers Light" panose="020B0403020202020204" pitchFamily="34" charset="0"/>
            </a:endParaRPr>
          </a:p>
          <a:p>
            <a:r>
              <a:rPr lang="en-US" sz="2000" b="1" dirty="0">
                <a:latin typeface="Univers Light" panose="020B0403020202020204" pitchFamily="34" charset="0"/>
              </a:rPr>
              <a:t>Exercises:</a:t>
            </a:r>
          </a:p>
          <a:p>
            <a:r>
              <a:rPr lang="en-US" sz="2000" dirty="0">
                <a:latin typeface="Univers Light" panose="020B0403020202020204" pitchFamily="34" charset="0"/>
              </a:rPr>
              <a:t>DESeq2 vignette</a:t>
            </a:r>
          </a:p>
          <a:p>
            <a:r>
              <a:rPr lang="en-US" sz="2000" dirty="0" err="1">
                <a:latin typeface="Univers Light" panose="020B0403020202020204" pitchFamily="34" charset="0"/>
              </a:rPr>
              <a:t>fgsea</a:t>
            </a:r>
            <a:r>
              <a:rPr lang="en-US" sz="2000" dirty="0">
                <a:latin typeface="Univers Light" panose="020B0403020202020204" pitchFamily="34" charset="0"/>
              </a:rPr>
              <a:t> vignette</a:t>
            </a:r>
          </a:p>
          <a:p>
            <a:r>
              <a:rPr lang="en-US" sz="2000" dirty="0" err="1">
                <a:latin typeface="Univers Light" panose="020B0403020202020204" pitchFamily="34" charset="0"/>
              </a:rPr>
              <a:t>Enrichr</a:t>
            </a:r>
            <a:r>
              <a:rPr lang="en-US" sz="2000" dirty="0">
                <a:latin typeface="Univers Light" panose="020B0403020202020204" pitchFamily="34" charset="0"/>
              </a:rPr>
              <a:t> vignette</a:t>
            </a:r>
          </a:p>
          <a:p>
            <a:endParaRPr lang="en-US" sz="2000" dirty="0">
              <a:latin typeface="Univers Light" panose="020B0403020202020204" pitchFamily="34" charset="0"/>
            </a:endParaRPr>
          </a:p>
          <a:p>
            <a:r>
              <a:rPr lang="en-US" sz="2000" b="1" dirty="0">
                <a:latin typeface="Univers Light" panose="020B0403020202020204" pitchFamily="34" charset="0"/>
              </a:rPr>
              <a:t>Data: </a:t>
            </a:r>
          </a:p>
          <a:p>
            <a:r>
              <a:rPr lang="en-CA" sz="2000" dirty="0">
                <a:latin typeface="Univers Light" panose="020B0403020202020204" pitchFamily="34" charset="0"/>
                <a:hlinkClick r:id="rId3"/>
              </a:rPr>
              <a:t>Link</a:t>
            </a:r>
            <a:r>
              <a:rPr lang="en-CA" sz="2000" dirty="0">
                <a:latin typeface="Univers Light" panose="020B0403020202020204" pitchFamily="34" charset="0"/>
              </a:rPr>
              <a:t> </a:t>
            </a:r>
            <a:endParaRPr lang="en-US" sz="20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034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92f3904c50_0_192"/>
          <p:cNvSpPr txBox="1"/>
          <p:nvPr/>
        </p:nvSpPr>
        <p:spPr>
          <a:xfrm>
            <a:off x="539900" y="1896925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This is an interactive workshop :)</a:t>
            </a:r>
            <a:endParaRPr sz="36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129" name="Google Shape;129;g192f3904c50_0_192"/>
          <p:cNvSpPr txBox="1"/>
          <p:nvPr/>
        </p:nvSpPr>
        <p:spPr>
          <a:xfrm>
            <a:off x="539900" y="3146378"/>
            <a:ext cx="7967100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lang="en-CA" sz="24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Feel free to interrupt or raise your hand to ask questions</a:t>
            </a:r>
            <a:endParaRPr sz="24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ea typeface="Kigelia" panose="020B0503040502020203" pitchFamily="34" charset="0"/>
              <a:cs typeface="Kigelia" panose="020B0503040502020203" pitchFamily="34" charset="0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>
          <a:extLst>
            <a:ext uri="{FF2B5EF4-FFF2-40B4-BE49-F238E27FC236}">
              <a16:creationId xmlns:a16="http://schemas.microsoft.com/office/drawing/2014/main" id="{B70715B1-BEB1-1F92-B38E-E6FDD04CF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92f3904c50_0_192">
            <a:extLst>
              <a:ext uri="{FF2B5EF4-FFF2-40B4-BE49-F238E27FC236}">
                <a16:creationId xmlns:a16="http://schemas.microsoft.com/office/drawing/2014/main" id="{183CCFD1-F518-4D1A-461C-3533B4979E60}"/>
              </a:ext>
            </a:extLst>
          </p:cNvPr>
          <p:cNvSpPr txBox="1"/>
          <p:nvPr/>
        </p:nvSpPr>
        <p:spPr>
          <a:xfrm>
            <a:off x="369600" y="1831508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000000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A small recap…</a:t>
            </a:r>
            <a:endParaRPr sz="3600" b="0" i="0" u="none" strike="noStrike" cap="none" dirty="0">
              <a:solidFill>
                <a:srgbClr val="000000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8A83B73-314E-3C4E-C9F9-6B6692B248AE}"/>
              </a:ext>
            </a:extLst>
          </p:cNvPr>
          <p:cNvSpPr/>
          <p:nvPr/>
        </p:nvSpPr>
        <p:spPr>
          <a:xfrm>
            <a:off x="586176" y="3056023"/>
            <a:ext cx="1387011" cy="109487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Quality control of FASTQ files</a:t>
            </a:r>
            <a:endParaRPr lang="en-CA" sz="18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888910-9DCA-B245-E84C-77B3AC25428D}"/>
              </a:ext>
            </a:extLst>
          </p:cNvPr>
          <p:cNvSpPr/>
          <p:nvPr/>
        </p:nvSpPr>
        <p:spPr>
          <a:xfrm>
            <a:off x="2736292" y="3056023"/>
            <a:ext cx="1387011" cy="109487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Genome alignment</a:t>
            </a:r>
            <a:endParaRPr lang="en-CA" sz="1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9204F4-89AE-C01F-58ED-3C5407873CF1}"/>
              </a:ext>
            </a:extLst>
          </p:cNvPr>
          <p:cNvSpPr/>
          <p:nvPr/>
        </p:nvSpPr>
        <p:spPr>
          <a:xfrm>
            <a:off x="4886409" y="3056023"/>
            <a:ext cx="1387011" cy="109487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Read counting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121517-784C-27A0-D997-2D590BD0EE6B}"/>
              </a:ext>
            </a:extLst>
          </p:cNvPr>
          <p:cNvSpPr/>
          <p:nvPr/>
        </p:nvSpPr>
        <p:spPr>
          <a:xfrm>
            <a:off x="7036526" y="3060027"/>
            <a:ext cx="1387011" cy="109487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/>
              <a:t>Differential expression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6DFBB45-0B4C-D0E1-DC5A-44464592D28E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1973187" y="3603460"/>
            <a:ext cx="763105" cy="0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4DD76E-C3FC-C990-EE32-7F643A033A72}"/>
              </a:ext>
            </a:extLst>
          </p:cNvPr>
          <p:cNvCxnSpPr>
            <a:cxnSpLocks/>
            <a:stCxn id="3" idx="3"/>
            <a:endCxn id="4" idx="1"/>
          </p:cNvCxnSpPr>
          <p:nvPr/>
        </p:nvCxnSpPr>
        <p:spPr>
          <a:xfrm>
            <a:off x="4123303" y="3603460"/>
            <a:ext cx="763106" cy="0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1945AA9-7571-940B-2CF5-6DE4CA351F9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6273420" y="3603460"/>
            <a:ext cx="763106" cy="4004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761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279052" y="1307912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1: </a:t>
            </a:r>
            <a:r>
              <a:rPr lang="en-CA" sz="32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Experimental design and model specification using DESeq2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2BA58-70E3-DA48-94E4-104FFE19F81C}"/>
              </a:ext>
            </a:extLst>
          </p:cNvPr>
          <p:cNvSpPr txBox="1"/>
          <p:nvPr/>
        </p:nvSpPr>
        <p:spPr>
          <a:xfrm>
            <a:off x="512064" y="2810907"/>
            <a:ext cx="711605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A brief overview of the DESeq2 model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Introduction to design matrices for gene expression experiments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Interpreting coefficients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Multi-factor designs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Detecting batch effects and outliers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416F9-26A1-85FF-5837-5EA273CA2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05E07220-515B-49D4-1239-A8755A1188A2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DESeq2 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69262-F031-DC89-E7BA-C195BFCEDA07}"/>
              </a:ext>
            </a:extLst>
          </p:cNvPr>
          <p:cNvSpPr txBox="1"/>
          <p:nvPr/>
        </p:nvSpPr>
        <p:spPr>
          <a:xfrm>
            <a:off x="5820047" y="5942415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Love, M.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Genome Biology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2954A85-E1F0-9933-A265-99D360652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048" y="2245186"/>
            <a:ext cx="7589903" cy="2627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F715F07-2252-AAC6-B92A-7377A19F69AE}"/>
              </a:ext>
            </a:extLst>
          </p:cNvPr>
          <p:cNvSpPr txBox="1"/>
          <p:nvPr/>
        </p:nvSpPr>
        <p:spPr>
          <a:xfrm>
            <a:off x="777048" y="5156504"/>
            <a:ext cx="30620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What does this all mean?</a:t>
            </a:r>
            <a:endParaRPr lang="en-CA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054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1BC73CD3-68A3-B246-9029-620DD11283D9}"/>
              </a:ext>
            </a:extLst>
          </p:cNvPr>
          <p:cNvSpPr txBox="1"/>
          <p:nvPr/>
        </p:nvSpPr>
        <p:spPr>
          <a:xfrm>
            <a:off x="206031" y="127429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2040204020203" pitchFamily="34" charset="0"/>
                <a:ea typeface="Kigelia" panose="020B0502040204020203" pitchFamily="34" charset="0"/>
                <a:cs typeface="Kigelia" panose="020B0502040204020203" pitchFamily="34" charset="0"/>
              </a:rPr>
              <a:t>Model used in DESeq2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3B7ED8-2062-4447-A1E4-FFAB170BA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995" y="2618664"/>
            <a:ext cx="4867709" cy="15924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F2F20E-3141-1D40-8CCB-B09BC5FCC927}"/>
              </a:ext>
            </a:extLst>
          </p:cNvPr>
          <p:cNvSpPr txBox="1"/>
          <p:nvPr/>
        </p:nvSpPr>
        <p:spPr>
          <a:xfrm>
            <a:off x="5632704" y="5986272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Love, M. </a:t>
            </a:r>
            <a:r>
              <a:rPr lang="en-US" i="1" dirty="0"/>
              <a:t>et al</a:t>
            </a:r>
            <a:r>
              <a:rPr lang="en-US" dirty="0"/>
              <a:t> (2014) </a:t>
            </a:r>
            <a:r>
              <a:rPr lang="en-US" i="1" dirty="0"/>
              <a:t>Genome Biology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45E0FE-4E82-F949-B5AC-80CBB229A724}"/>
              </a:ext>
            </a:extLst>
          </p:cNvPr>
          <p:cNvSpPr txBox="1"/>
          <p:nvPr/>
        </p:nvSpPr>
        <p:spPr>
          <a:xfrm>
            <a:off x="404349" y="2066545"/>
            <a:ext cx="6827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DESeq2 models the counts using a negative binomial distribution</a:t>
            </a:r>
          </a:p>
        </p:txBody>
      </p:sp>
      <p:pic>
        <p:nvPicPr>
          <p:cNvPr id="8" name="Picture 7" descr="A close-up of a text&#10;&#10;AI-generated content may be incorrect.">
            <a:extLst>
              <a:ext uri="{FF2B5EF4-FFF2-40B4-BE49-F238E27FC236}">
                <a16:creationId xmlns:a16="http://schemas.microsoft.com/office/drawing/2014/main" id="{8DFC0083-104A-72F8-96D3-F9C2988CA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49" y="4266573"/>
            <a:ext cx="5155007" cy="224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14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C886DC-D782-6506-40B1-EA1939620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010" y="1498275"/>
            <a:ext cx="6006410" cy="358868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A22DBF-07CF-ACB3-7ABB-65769024D548}"/>
              </a:ext>
            </a:extLst>
          </p:cNvPr>
          <p:cNvSpPr txBox="1"/>
          <p:nvPr/>
        </p:nvSpPr>
        <p:spPr>
          <a:xfrm>
            <a:off x="1452010" y="5357624"/>
            <a:ext cx="366639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CA" sz="1800" dirty="0">
                <a:latin typeface="Univers Light" panose="020B0403020202020204" pitchFamily="34" charset="0"/>
              </a:rPr>
              <a:t>Replication introduces variance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6159F4-3AFE-9BEA-E1E9-1BDF0D474780}"/>
              </a:ext>
            </a:extLst>
          </p:cNvPr>
          <p:cNvSpPr txBox="1"/>
          <p:nvPr/>
        </p:nvSpPr>
        <p:spPr>
          <a:xfrm>
            <a:off x="3481330" y="6206257"/>
            <a:ext cx="5339549" cy="213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88" dirty="0">
                <a:latin typeface="Univers Light" panose="020B0403020202020204" pitchFamily="34" charset="0"/>
              </a:rPr>
              <a:t>Adapted from: https://</a:t>
            </a:r>
            <a:r>
              <a:rPr lang="en-US" sz="788" dirty="0" err="1">
                <a:latin typeface="Univers Light" panose="020B0403020202020204" pitchFamily="34" charset="0"/>
              </a:rPr>
              <a:t>hbctraining.github.io</a:t>
            </a:r>
            <a:r>
              <a:rPr lang="en-US" sz="788" dirty="0">
                <a:latin typeface="Univers Light" panose="020B0403020202020204" pitchFamily="34" charset="0"/>
              </a:rPr>
              <a:t>/</a:t>
            </a:r>
            <a:r>
              <a:rPr lang="en-US" sz="788" dirty="0" err="1">
                <a:latin typeface="Univers Light" panose="020B0403020202020204" pitchFamily="34" charset="0"/>
              </a:rPr>
              <a:t>DGE_workshop_salmon_online</a:t>
            </a:r>
            <a:r>
              <a:rPr lang="en-US" sz="788" dirty="0">
                <a:latin typeface="Univers Light" panose="020B0403020202020204" pitchFamily="34" charset="0"/>
              </a:rPr>
              <a:t>/schedule/links-to-</a:t>
            </a:r>
            <a:r>
              <a:rPr lang="en-US" sz="788" dirty="0" err="1">
                <a:latin typeface="Univers Light" panose="020B0403020202020204" pitchFamily="34" charset="0"/>
              </a:rPr>
              <a:t>lessons.html</a:t>
            </a:r>
            <a:endParaRPr lang="en-US" sz="788" dirty="0">
              <a:latin typeface="Univers Light" panose="020B0403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2B4057F-0BEB-38D7-9EB3-DA65530D2FDA}"/>
              </a:ext>
            </a:extLst>
          </p:cNvPr>
          <p:cNvSpPr txBox="1">
            <a:spLocks/>
          </p:cNvSpPr>
          <p:nvPr/>
        </p:nvSpPr>
        <p:spPr>
          <a:xfrm>
            <a:off x="221026" y="154236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Uneven distribution of information</a:t>
            </a:r>
            <a:endParaRPr lang="en-US" sz="3200" dirty="0"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922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1BC73CD3-68A3-B246-9029-620DD11283D9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What is dispersion?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3B7ED8-2062-4447-A1E4-FFAB170BA90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r="15004" b="72332"/>
          <a:stretch/>
        </p:blipFill>
        <p:spPr>
          <a:xfrm>
            <a:off x="585216" y="2585302"/>
            <a:ext cx="4903724" cy="52220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F2F20E-3141-1D40-8CCB-B09BC5FCC927}"/>
              </a:ext>
            </a:extLst>
          </p:cNvPr>
          <p:cNvSpPr txBox="1"/>
          <p:nvPr/>
        </p:nvSpPr>
        <p:spPr>
          <a:xfrm>
            <a:off x="5632704" y="5986272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Love, M.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Genome Biology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45E0FE-4E82-F949-B5AC-80CBB229A724}"/>
              </a:ext>
            </a:extLst>
          </p:cNvPr>
          <p:cNvSpPr txBox="1"/>
          <p:nvPr/>
        </p:nvSpPr>
        <p:spPr>
          <a:xfrm>
            <a:off x="477697" y="2013516"/>
            <a:ext cx="7972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Within-group variability (the variability between replicates), is modeled by the dispersion parameter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8D1D89-9189-584D-8C55-B314C40516E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133" b="12103"/>
          <a:stretch/>
        </p:blipFill>
        <p:spPr>
          <a:xfrm>
            <a:off x="684368" y="3429000"/>
            <a:ext cx="2679193" cy="4492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523149-80D6-B344-9A56-718BF3CA17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2995" y="3068553"/>
            <a:ext cx="3014892" cy="1801324"/>
          </a:xfrm>
          <a:prstGeom prst="rect">
            <a:avLst/>
          </a:prstGeom>
        </p:spPr>
      </p:pic>
      <p:pic>
        <p:nvPicPr>
          <p:cNvPr id="2" name="Picture 1" descr="A close-up of a text&#10;&#10;AI-generated content may be incorrect.">
            <a:extLst>
              <a:ext uri="{FF2B5EF4-FFF2-40B4-BE49-F238E27FC236}">
                <a16:creationId xmlns:a16="http://schemas.microsoft.com/office/drawing/2014/main" id="{3B1503D2-14D6-716B-4206-0E567AFFBC3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3380"/>
          <a:stretch>
            <a:fillRect/>
          </a:stretch>
        </p:blipFill>
        <p:spPr>
          <a:xfrm>
            <a:off x="477697" y="5244273"/>
            <a:ext cx="5155007" cy="8228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3B19ADA-D1A0-47A8-BD38-6861F6B770BC}"/>
              </a:ext>
            </a:extLst>
          </p:cNvPr>
          <p:cNvSpPr/>
          <p:nvPr/>
        </p:nvSpPr>
        <p:spPr>
          <a:xfrm>
            <a:off x="2750639" y="3465244"/>
            <a:ext cx="286439" cy="3767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30372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1BC73CD3-68A3-B246-9029-620DD11283D9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Wald tests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F2F20E-3141-1D40-8CCB-B09BC5FCC927}"/>
              </a:ext>
            </a:extLst>
          </p:cNvPr>
          <p:cNvSpPr txBox="1"/>
          <p:nvPr/>
        </p:nvSpPr>
        <p:spPr>
          <a:xfrm>
            <a:off x="5820047" y="5942415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Love, M.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Genome Biology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AC6C32-394C-8D48-8764-C1B2FDAB9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81" y="2782244"/>
            <a:ext cx="2599642" cy="17710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DC1C22-3222-10F5-80C5-AF7FB178FCF4}"/>
              </a:ext>
            </a:extLst>
          </p:cNvPr>
          <p:cNvSpPr txBox="1"/>
          <p:nvPr/>
        </p:nvSpPr>
        <p:spPr>
          <a:xfrm>
            <a:off x="3778301" y="2900753"/>
            <a:ext cx="51188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We can assume the log fold change under the null hypothesis to be distributed normally with mean zero and variance that depends on the standard error.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r>
              <a:rPr lang="en-US" sz="1800" dirty="0">
                <a:latin typeface="Univers Light" panose="020B0403020202020204" pitchFamily="34" charset="0"/>
              </a:rPr>
              <a:t>From there, we can compute a two-sided p-value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9B11E1-40A7-D75B-C5B8-A3A3DD11A1C7}"/>
              </a:ext>
            </a:extLst>
          </p:cNvPr>
          <p:cNvSpPr/>
          <p:nvPr/>
        </p:nvSpPr>
        <p:spPr>
          <a:xfrm>
            <a:off x="2200801" y="2878647"/>
            <a:ext cx="882898" cy="7390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C4102C-6207-701B-201F-9D4C2224FC5D}"/>
              </a:ext>
            </a:extLst>
          </p:cNvPr>
          <p:cNvSpPr txBox="1"/>
          <p:nvPr/>
        </p:nvSpPr>
        <p:spPr>
          <a:xfrm>
            <a:off x="720481" y="2463805"/>
            <a:ext cx="32079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Log2 Fold Change in gene expression</a:t>
            </a:r>
            <a:endParaRPr lang="en-C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9428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oup of graphs showing different types of numbers&#10;&#10;AI-generated content may be incorrect.">
            <a:extLst>
              <a:ext uri="{FF2B5EF4-FFF2-40B4-BE49-F238E27FC236}">
                <a16:creationId xmlns:a16="http://schemas.microsoft.com/office/drawing/2014/main" id="{F4BF1172-D254-C5DF-998C-34C10E0CA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96" y="1182332"/>
            <a:ext cx="4850686" cy="5292339"/>
          </a:xfrm>
          <a:prstGeom prst="rect">
            <a:avLst/>
          </a:prstGeom>
        </p:spPr>
      </p:pic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18672DFA-5F9E-7B1B-B8B0-BA340769F112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Log-fold shrinkage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B5A50F-BAC5-B3CE-0F1C-8CBF6E6B12E0}"/>
              </a:ext>
            </a:extLst>
          </p:cNvPr>
          <p:cNvSpPr txBox="1"/>
          <p:nvPr/>
        </p:nvSpPr>
        <p:spPr>
          <a:xfrm>
            <a:off x="5653793" y="6166894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Love, M.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Genome Biology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EAA7AFB-2467-5F77-ABBF-F9ACDA3486D0}"/>
              </a:ext>
            </a:extLst>
          </p:cNvPr>
          <p:cNvSpPr txBox="1"/>
          <p:nvPr/>
        </p:nvSpPr>
        <p:spPr>
          <a:xfrm>
            <a:off x="5568232" y="1827443"/>
            <a:ext cx="31983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Shrinkage of FC addresses two issues: 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Log-fold changes are noisier when counts are low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Genes with high dispersion should be less reliable</a:t>
            </a:r>
          </a:p>
        </p:txBody>
      </p:sp>
    </p:spTree>
    <p:extLst>
      <p:ext uri="{BB962C8B-B14F-4D97-AF65-F5344CB8AC3E}">
        <p14:creationId xmlns:p14="http://schemas.microsoft.com/office/powerpoint/2010/main" val="2591259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16660B08-8F2A-5E20-8E36-4B152B0BE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650260BD-BA04-DB3E-4054-2FE226DB2358}"/>
              </a:ext>
            </a:extLst>
          </p:cNvPr>
          <p:cNvSpPr txBox="1"/>
          <p:nvPr/>
        </p:nvSpPr>
        <p:spPr>
          <a:xfrm>
            <a:off x="279052" y="1307912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1: </a:t>
            </a:r>
            <a:r>
              <a:rPr lang="en-CA" sz="32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Experimental design and model specification using DESeq2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AAF04F-4ABD-DE29-458E-C3E4D6BADDF7}"/>
              </a:ext>
            </a:extLst>
          </p:cNvPr>
          <p:cNvSpPr txBox="1"/>
          <p:nvPr/>
        </p:nvSpPr>
        <p:spPr>
          <a:xfrm>
            <a:off x="512064" y="2810907"/>
            <a:ext cx="711605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A brief overview of the DESeq2 model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Introduction to design matrices for gene expression experiments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Interpreting coefficients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Multi-factor designs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Detecting batch effects and outliers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1</a:t>
            </a:r>
          </a:p>
        </p:txBody>
      </p:sp>
    </p:spTree>
    <p:extLst>
      <p:ext uri="{BB962C8B-B14F-4D97-AF65-F5344CB8AC3E}">
        <p14:creationId xmlns:p14="http://schemas.microsoft.com/office/powerpoint/2010/main" val="437807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45F7E-270B-E5C7-3CA1-5FD8ABB93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957C6EC4-F7A5-039C-D5C1-642179B9F781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Models for covariate and factor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100F1C-080F-9D97-FB4A-F2F35B71A6C4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19B94C0C-1354-932F-0463-2AA8E185A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15" y="1280119"/>
            <a:ext cx="7562223" cy="449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0725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5E19C7-5FB1-3D62-3890-5AA4905B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242A2D43-28AD-4B5C-2774-7D6E3629C51B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Design and contrast matrices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A27B75-27F6-59DD-17CB-C64774C15577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pic>
        <p:nvPicPr>
          <p:cNvPr id="4" name="Picture 3" descr="A comparison of a model parameters&#10;&#10;AI-generated content may be incorrect.">
            <a:extLst>
              <a:ext uri="{FF2B5EF4-FFF2-40B4-BE49-F238E27FC236}">
                <a16:creationId xmlns:a16="http://schemas.microsoft.com/office/drawing/2014/main" id="{7713F781-B48F-67D6-B9E4-27C76758F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19" y="1945626"/>
            <a:ext cx="7125320" cy="307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46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CF81B407-0693-4C65-E09F-05AD7F14F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D0475451-6F5D-E0EB-993E-5AAECDA419DA}"/>
              </a:ext>
            </a:extLst>
          </p:cNvPr>
          <p:cNvSpPr txBox="1"/>
          <p:nvPr/>
        </p:nvSpPr>
        <p:spPr>
          <a:xfrm>
            <a:off x="279052" y="1307912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1: </a:t>
            </a:r>
            <a:r>
              <a:rPr lang="en-CA" sz="32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Experimental design and model specification using DESeq2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965281-375C-ED05-99B7-AE6958329816}"/>
              </a:ext>
            </a:extLst>
          </p:cNvPr>
          <p:cNvSpPr txBox="1"/>
          <p:nvPr/>
        </p:nvSpPr>
        <p:spPr>
          <a:xfrm>
            <a:off x="512064" y="2810907"/>
            <a:ext cx="711605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A brief overview of the DESeq2 model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Introduction to design matrices for gene expression experiments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Interpreting coefficients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Multi-factor designs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Detecting batch effects and outliers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1</a:t>
            </a:r>
          </a:p>
        </p:txBody>
      </p:sp>
    </p:spTree>
    <p:extLst>
      <p:ext uri="{BB962C8B-B14F-4D97-AF65-F5344CB8AC3E}">
        <p14:creationId xmlns:p14="http://schemas.microsoft.com/office/powerpoint/2010/main" val="6311475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5D7F6-33D7-A62F-D5F9-C89A523E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D01B8172-5DC3-0D02-8880-5E10D4040C6C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Gene expression modelled by a group factor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6670F-F186-CF49-FE87-4F4C191D79C3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504D25-1D17-58C9-0036-8FCF73E05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801" y="1639971"/>
            <a:ext cx="6750397" cy="41848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7C61F4F-F7CE-4C6A-B0CF-9834FEC7B455}"/>
              </a:ext>
            </a:extLst>
          </p:cNvPr>
          <p:cNvSpPr txBox="1"/>
          <p:nvPr/>
        </p:nvSpPr>
        <p:spPr>
          <a:xfrm>
            <a:off x="503216" y="1225478"/>
            <a:ext cx="792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~ group</a:t>
            </a:r>
            <a:endParaRPr lang="en-CA" sz="1800" dirty="0">
              <a:latin typeface="Univers Light" panose="020B0403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B59EFB7-99EA-5527-80AF-07DF48CD5E5B}"/>
              </a:ext>
            </a:extLst>
          </p:cNvPr>
          <p:cNvSpPr/>
          <p:nvPr/>
        </p:nvSpPr>
        <p:spPr>
          <a:xfrm>
            <a:off x="1948135" y="2517699"/>
            <a:ext cx="422083" cy="430037"/>
          </a:xfrm>
          <a:prstGeom prst="rect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8E2038-B353-7ACB-4BBB-A735EFD3B22A}"/>
              </a:ext>
            </a:extLst>
          </p:cNvPr>
          <p:cNvSpPr/>
          <p:nvPr/>
        </p:nvSpPr>
        <p:spPr>
          <a:xfrm>
            <a:off x="2521635" y="2501652"/>
            <a:ext cx="422083" cy="43003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9305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3F13A-605A-F628-7BF9-71EE39CC7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75055502-8715-F022-6DD0-3004F79D0266}"/>
              </a:ext>
            </a:extLst>
          </p:cNvPr>
          <p:cNvSpPr txBox="1"/>
          <p:nvPr/>
        </p:nvSpPr>
        <p:spPr>
          <a:xfrm>
            <a:off x="160299" y="383329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Gene expression modelled by a group factor</a:t>
            </a:r>
          </a:p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(excluding intercept)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44E145-2B3B-DC9E-C2F7-2E7C86FF47FD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C3F9D41-9E16-2982-6C42-ABE47110C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480" y="1975679"/>
            <a:ext cx="6617040" cy="41912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5661B5-8044-4A1F-38BD-80692B5A7F9E}"/>
              </a:ext>
            </a:extLst>
          </p:cNvPr>
          <p:cNvSpPr txBox="1"/>
          <p:nvPr/>
        </p:nvSpPr>
        <p:spPr>
          <a:xfrm>
            <a:off x="610095" y="1600160"/>
            <a:ext cx="792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~ 0 + group</a:t>
            </a:r>
            <a:endParaRPr lang="en-CA" sz="1800" dirty="0">
              <a:latin typeface="Univers Light" panose="020B0403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D23C9C-712C-1137-D141-6B0B29891EF5}"/>
              </a:ext>
            </a:extLst>
          </p:cNvPr>
          <p:cNvSpPr txBox="1"/>
          <p:nvPr/>
        </p:nvSpPr>
        <p:spPr>
          <a:xfrm>
            <a:off x="3224463" y="1829265"/>
            <a:ext cx="44230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 contrast will be needed to extract the actual log2FC</a:t>
            </a:r>
            <a:endParaRPr lang="en-C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767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6B2BA204-1706-0B15-313B-901089DBC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2EC3C768-C8DE-10F6-42BA-D6C4819AEC86}"/>
              </a:ext>
            </a:extLst>
          </p:cNvPr>
          <p:cNvSpPr txBox="1"/>
          <p:nvPr/>
        </p:nvSpPr>
        <p:spPr>
          <a:xfrm>
            <a:off x="279052" y="1307912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1: </a:t>
            </a:r>
            <a:r>
              <a:rPr lang="en-CA" sz="32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Experimental design and model specification using DESeq2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1C20B6-93FD-1547-82E4-AB60318484AE}"/>
              </a:ext>
            </a:extLst>
          </p:cNvPr>
          <p:cNvSpPr txBox="1"/>
          <p:nvPr/>
        </p:nvSpPr>
        <p:spPr>
          <a:xfrm>
            <a:off x="512064" y="2810907"/>
            <a:ext cx="711605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A brief overview of the DESeq2 model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Introduction to design matrices for gene expression experiments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Interpreting coefficients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Multi-factor designs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Detecting batch effects and outliers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1</a:t>
            </a:r>
          </a:p>
        </p:txBody>
      </p:sp>
    </p:spTree>
    <p:extLst>
      <p:ext uri="{BB962C8B-B14F-4D97-AF65-F5344CB8AC3E}">
        <p14:creationId xmlns:p14="http://schemas.microsoft.com/office/powerpoint/2010/main" val="806955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75525-0C45-3339-6147-AF423A15B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561103CA-5731-9D16-A97B-EBED0C6C6D8C}"/>
              </a:ext>
            </a:extLst>
          </p:cNvPr>
          <p:cNvSpPr txBox="1"/>
          <p:nvPr/>
        </p:nvSpPr>
        <p:spPr>
          <a:xfrm>
            <a:off x="160299" y="383329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An interaction model captures a synergistic effect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2746E6-7CA5-231D-EA86-25783AA74F29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73C0A-1ECE-BFF2-16E5-EEC984CA625A}"/>
              </a:ext>
            </a:extLst>
          </p:cNvPr>
          <p:cNvSpPr txBox="1"/>
          <p:nvPr/>
        </p:nvSpPr>
        <p:spPr>
          <a:xfrm>
            <a:off x="638299" y="5675692"/>
            <a:ext cx="46016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O</a:t>
            </a:r>
            <a:r>
              <a:rPr lang="en-US" sz="1800" b="0" i="0" dirty="0">
                <a:solidFill>
                  <a:srgbClr val="001D35"/>
                </a:solidFill>
                <a:effectLst/>
                <a:latin typeface="Univers Light" panose="020B0403020202020204" pitchFamily="34" charset="0"/>
              </a:rPr>
              <a:t>ne plus one is greater than two</a:t>
            </a:r>
            <a:endParaRPr lang="en-CA" sz="1800" dirty="0">
              <a:latin typeface="Univers Light" panose="020B0403020202020204" pitchFamily="34" charset="0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AEA9D92-77D6-D09A-4B23-00B522EB5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622" y="1722127"/>
            <a:ext cx="5912154" cy="39689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E39A1B1-C831-5A8A-91A0-8E399EF62DC7}"/>
              </a:ext>
            </a:extLst>
          </p:cNvPr>
          <p:cNvSpPr txBox="1"/>
          <p:nvPr/>
        </p:nvSpPr>
        <p:spPr>
          <a:xfrm>
            <a:off x="282039" y="1490054"/>
            <a:ext cx="792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~ treat1 * treat2</a:t>
            </a:r>
            <a:r>
              <a:rPr lang="en-US" sz="1800" dirty="0">
                <a:solidFill>
                  <a:srgbClr val="FF0000"/>
                </a:solidFill>
                <a:latin typeface="Univers Light" panose="020B0403020202020204" pitchFamily="34" charset="0"/>
              </a:rPr>
              <a:t> equivalent </a:t>
            </a:r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to ~ treat1 + treat2 + treat1:treat2</a:t>
            </a:r>
            <a:endParaRPr lang="en-CA" sz="18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907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60657-1651-2468-5628-53626EC56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C0907908-BB12-F246-7D2A-F2BEB5BE62BC}"/>
              </a:ext>
            </a:extLst>
          </p:cNvPr>
          <p:cNvSpPr txBox="1"/>
          <p:nvPr/>
        </p:nvSpPr>
        <p:spPr>
          <a:xfrm>
            <a:off x="160299" y="383329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A group factor can represent two factors (tissue sample and cell type)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1372B-B004-319E-28C1-A129E989E202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A702416-1583-2718-774A-F8747D34E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236" y="1931905"/>
            <a:ext cx="5755592" cy="3590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401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ECFE6-9FFA-E76C-96EF-70CFE0241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6E6A5804-25F7-D88E-92FF-47B608884977}"/>
              </a:ext>
            </a:extLst>
          </p:cNvPr>
          <p:cNvSpPr txBox="1"/>
          <p:nvPr/>
        </p:nvSpPr>
        <p:spPr>
          <a:xfrm>
            <a:off x="160299" y="383329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A group factor can represent two factors (tissue sample and cell type)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1D5AA5-EE33-D9BD-B018-9D2F78D57E72}"/>
              </a:ext>
            </a:extLst>
          </p:cNvPr>
          <p:cNvSpPr txBox="1"/>
          <p:nvPr/>
        </p:nvSpPr>
        <p:spPr>
          <a:xfrm>
            <a:off x="5653793" y="6166894"/>
            <a:ext cx="3070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Law, C.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(2020) </a:t>
            </a:r>
            <a:r>
              <a:rPr lang="en-US" i="1" dirty="0">
                <a:latin typeface="Univers Light" panose="020B0403020202020204" pitchFamily="34" charset="0"/>
              </a:rPr>
              <a:t>F1000 Research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0B6206-5FFD-EF8B-587B-6D9BFAA5F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67" y="1969492"/>
            <a:ext cx="6018663" cy="41287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F20FE5-B682-7523-24F0-3593558B506B}"/>
              </a:ext>
            </a:extLst>
          </p:cNvPr>
          <p:cNvSpPr txBox="1"/>
          <p:nvPr/>
        </p:nvSpPr>
        <p:spPr>
          <a:xfrm>
            <a:off x="610095" y="1600160"/>
            <a:ext cx="79238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~ 0 + group</a:t>
            </a:r>
            <a:endParaRPr lang="en-CA" sz="18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213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8715E038-9C49-D659-4254-049997887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0FB51958-4E0C-8C0E-3EB2-45E61F1E0F07}"/>
              </a:ext>
            </a:extLst>
          </p:cNvPr>
          <p:cNvSpPr txBox="1"/>
          <p:nvPr/>
        </p:nvSpPr>
        <p:spPr>
          <a:xfrm>
            <a:off x="279052" y="1307912"/>
            <a:ext cx="8404800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32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1: </a:t>
            </a:r>
            <a:r>
              <a:rPr lang="en-CA" sz="32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Experimental design and model specification using DESeq2</a:t>
            </a:r>
            <a:endParaRPr sz="32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3F3038-D6B8-7B73-C5BB-0D0AC2BDCF6A}"/>
              </a:ext>
            </a:extLst>
          </p:cNvPr>
          <p:cNvSpPr txBox="1"/>
          <p:nvPr/>
        </p:nvSpPr>
        <p:spPr>
          <a:xfrm>
            <a:off x="512064" y="2810907"/>
            <a:ext cx="711605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A brief overview of the DESeq2 model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Introduction to design matrices for gene expression experiments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Interpreting coefficients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Multi-factor designs</a:t>
            </a:r>
          </a:p>
          <a:p>
            <a:endParaRPr lang="en-US" sz="18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Univers Light" panose="020B0403020202020204" pitchFamily="34" charset="0"/>
              </a:rPr>
              <a:t>Detecting batch effects and outliers</a:t>
            </a:r>
          </a:p>
          <a:p>
            <a:endParaRPr lang="en-US" sz="18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1</a:t>
            </a:r>
          </a:p>
        </p:txBody>
      </p:sp>
    </p:spTree>
    <p:extLst>
      <p:ext uri="{BB962C8B-B14F-4D97-AF65-F5344CB8AC3E}">
        <p14:creationId xmlns:p14="http://schemas.microsoft.com/office/powerpoint/2010/main" val="629826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1095E-9555-0981-77B7-A757A3419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5D7868A5-75BE-49EE-DEF4-A76DF9C92B20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Batch effects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F957D7-68F7-14B0-0B51-15177DE578A1}"/>
              </a:ext>
            </a:extLst>
          </p:cNvPr>
          <p:cNvSpPr txBox="1"/>
          <p:nvPr/>
        </p:nvSpPr>
        <p:spPr>
          <a:xfrm>
            <a:off x="4152548" y="5963216"/>
            <a:ext cx="47371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Zhang, Y.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NAR Genomics and Bioinformatics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386E97-2015-3DE0-3EC5-9676BA9F3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137" y="1984990"/>
            <a:ext cx="4292821" cy="36958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438579-C8AA-3189-875E-C906C114A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5375" y="1984990"/>
            <a:ext cx="1187511" cy="3530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258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0F9A6-FB80-1E80-B071-6F7550539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BC37E2FD-D529-5FE3-1B1A-847AC8C4CC7F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Batch effect removal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9B2660-311E-1ABD-7D79-2B7C53BAA3CF}"/>
              </a:ext>
            </a:extLst>
          </p:cNvPr>
          <p:cNvSpPr txBox="1"/>
          <p:nvPr/>
        </p:nvSpPr>
        <p:spPr>
          <a:xfrm>
            <a:off x="4152548" y="5963216"/>
            <a:ext cx="47371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Zhang, Y.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NAR Genomics and Bioinformatics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232991-7086-4169-BBD6-26456FBCE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28" y="2367783"/>
            <a:ext cx="3137293" cy="27010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38419A5-C11F-5416-AC81-331FA79FF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6341" y="1984990"/>
            <a:ext cx="1187511" cy="35307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EDD3497-F5EF-056D-F6AA-84E7A0DA0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2229" y="2367783"/>
            <a:ext cx="3137293" cy="283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6263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B0A15-F8A3-2DAC-4AD5-F9590759C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9DA593E2-4AC0-950A-BAB7-044C77AD0926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DESeq2 output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3530C7-1DFA-7217-EC62-42EEBB8FC60C}"/>
              </a:ext>
            </a:extLst>
          </p:cNvPr>
          <p:cNvSpPr txBox="1"/>
          <p:nvPr/>
        </p:nvSpPr>
        <p:spPr>
          <a:xfrm>
            <a:off x="5820047" y="5942415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Love, M.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Genome Biology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C8EF0E-C5EA-1E60-4D33-580D8C7F4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048" y="2414432"/>
            <a:ext cx="7589903" cy="26278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C2A3ABE-D269-B9A9-85C8-DF8DF0E4CD07}"/>
              </a:ext>
            </a:extLst>
          </p:cNvPr>
          <p:cNvSpPr txBox="1"/>
          <p:nvPr/>
        </p:nvSpPr>
        <p:spPr>
          <a:xfrm>
            <a:off x="5369433" y="1869485"/>
            <a:ext cx="3719413" cy="101566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The log2 fold change depends on the design that we use and the contrast (if any)</a:t>
            </a:r>
            <a:endParaRPr lang="en-CA" sz="2000" dirty="0">
              <a:solidFill>
                <a:srgbClr val="FF0000"/>
              </a:solidFill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72149FB5-3A07-6D83-7886-2F2E082068C7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4668253" y="2377317"/>
            <a:ext cx="701180" cy="169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361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92f3904c50_0_26"/>
          <p:cNvSpPr txBox="1"/>
          <p:nvPr/>
        </p:nvSpPr>
        <p:spPr>
          <a:xfrm>
            <a:off x="700400" y="2407600"/>
            <a:ext cx="58659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CA" sz="4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 1</a:t>
            </a:r>
            <a:endParaRPr sz="4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g192f3904c50_0_26" descr="Programmer femal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6695" y="1034391"/>
            <a:ext cx="3863009" cy="38630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279052" y="1307912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</a:t>
            </a:r>
            <a:r>
              <a:rPr lang="en-CA" sz="2800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2</a:t>
            </a: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: </a:t>
            </a: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GSEA and ORA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A52BA58-70E3-DA48-94E4-104FFE19F81C}"/>
              </a:ext>
            </a:extLst>
          </p:cNvPr>
          <p:cNvSpPr txBox="1"/>
          <p:nvPr/>
        </p:nvSpPr>
        <p:spPr>
          <a:xfrm>
            <a:off x="512064" y="2351984"/>
            <a:ext cx="434926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Univers Light" panose="020B0403020202020204" pitchFamily="34" charset="0"/>
              </a:rPr>
              <a:t>Statistical concepts used in GSEA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Statistical concepts used in ORA</a:t>
            </a: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When to use GSEA or ORA?</a:t>
            </a: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2</a:t>
            </a:r>
          </a:p>
        </p:txBody>
      </p:sp>
    </p:spTree>
    <p:extLst>
      <p:ext uri="{BB962C8B-B14F-4D97-AF65-F5344CB8AC3E}">
        <p14:creationId xmlns:p14="http://schemas.microsoft.com/office/powerpoint/2010/main" val="180800248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5B08E-2E0C-5E04-848B-C3099B8C0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C7F7C747-B9DF-1309-097F-DFA4C41B953F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Gene Set Enrichment Analysis (GSEA)</a:t>
            </a:r>
          </a:p>
        </p:txBody>
      </p:sp>
      <p:pic>
        <p:nvPicPr>
          <p:cNvPr id="4" name="Picture 3" descr="A diagram of a gene set&#10;&#10;AI-generated content may be incorrect.">
            <a:extLst>
              <a:ext uri="{FF2B5EF4-FFF2-40B4-BE49-F238E27FC236}">
                <a16:creationId xmlns:a16="http://schemas.microsoft.com/office/drawing/2014/main" id="{DA2664F5-95FE-346E-08E8-5BCAC3760A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448" y="1533933"/>
            <a:ext cx="7014474" cy="37901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5CAD25-BD24-DC3C-2259-CFC11FC13C0B}"/>
              </a:ext>
            </a:extLst>
          </p:cNvPr>
          <p:cNvSpPr txBox="1"/>
          <p:nvPr/>
        </p:nvSpPr>
        <p:spPr>
          <a:xfrm>
            <a:off x="5653793" y="6166894"/>
            <a:ext cx="2941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Subramanian, A.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(2005) </a:t>
            </a:r>
            <a:r>
              <a:rPr lang="en-US" i="1" dirty="0">
                <a:latin typeface="Univers Light" panose="020B0403020202020204" pitchFamily="34" charset="0"/>
              </a:rPr>
              <a:t>PNAS</a:t>
            </a:r>
          </a:p>
        </p:txBody>
      </p:sp>
    </p:spTree>
    <p:extLst>
      <p:ext uri="{BB962C8B-B14F-4D97-AF65-F5344CB8AC3E}">
        <p14:creationId xmlns:p14="http://schemas.microsoft.com/office/powerpoint/2010/main" val="32449617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C7A7DC67-ABE9-5474-D5D9-7BE4320D4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6E0FDEF1-60BB-919B-290B-DE348A1C6C4C}"/>
              </a:ext>
            </a:extLst>
          </p:cNvPr>
          <p:cNvSpPr txBox="1"/>
          <p:nvPr/>
        </p:nvSpPr>
        <p:spPr>
          <a:xfrm>
            <a:off x="279052" y="1307912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</a:t>
            </a:r>
            <a:r>
              <a:rPr lang="en-CA" sz="2800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2</a:t>
            </a: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: </a:t>
            </a: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GSEA and ORA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1AD5FD-0517-9867-054A-A9800D6C87BC}"/>
              </a:ext>
            </a:extLst>
          </p:cNvPr>
          <p:cNvSpPr txBox="1"/>
          <p:nvPr/>
        </p:nvSpPr>
        <p:spPr>
          <a:xfrm>
            <a:off x="512064" y="2351984"/>
            <a:ext cx="434926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Statistical concepts used in GSEA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Univers Light" panose="020B0403020202020204" pitchFamily="34" charset="0"/>
              </a:rPr>
              <a:t>Statistical concepts used in ORA</a:t>
            </a: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When to use GSEA or ORA?</a:t>
            </a: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2</a:t>
            </a:r>
          </a:p>
        </p:txBody>
      </p:sp>
    </p:spTree>
    <p:extLst>
      <p:ext uri="{BB962C8B-B14F-4D97-AF65-F5344CB8AC3E}">
        <p14:creationId xmlns:p14="http://schemas.microsoft.com/office/powerpoint/2010/main" val="27387491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D60F5-A238-40B9-AEF7-48394F156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9E6C56A5-721E-0349-CE6A-C29A2ED1A65B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 err="1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Enrichr</a:t>
            </a:r>
            <a:endParaRPr lang="en-CA" sz="3200" dirty="0"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</a:endParaRPr>
          </a:p>
        </p:txBody>
      </p:sp>
      <p:pic>
        <p:nvPicPr>
          <p:cNvPr id="5" name="Picture 4" descr="A black and red text&#10;&#10;AI-generated content may be incorrect.">
            <a:extLst>
              <a:ext uri="{FF2B5EF4-FFF2-40B4-BE49-F238E27FC236}">
                <a16:creationId xmlns:a16="http://schemas.microsoft.com/office/drawing/2014/main" id="{635281F8-B714-62F0-C77A-54AA7A1FC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843" y="912854"/>
            <a:ext cx="3778444" cy="7683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0A3081-5C0A-9930-D680-E1E9D3A1234A}"/>
              </a:ext>
            </a:extLst>
          </p:cNvPr>
          <p:cNvSpPr txBox="1"/>
          <p:nvPr/>
        </p:nvSpPr>
        <p:spPr>
          <a:xfrm>
            <a:off x="6348499" y="4055740"/>
            <a:ext cx="32705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P-value comes from a hypergeometric test</a:t>
            </a:r>
            <a:endParaRPr lang="en-CA" sz="1800" dirty="0">
              <a:latin typeface="Univers Light" panose="020B0403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012CFE-0659-2987-6C1F-6FED347E93DD}"/>
              </a:ext>
            </a:extLst>
          </p:cNvPr>
          <p:cNvSpPr txBox="1"/>
          <p:nvPr/>
        </p:nvSpPr>
        <p:spPr>
          <a:xfrm>
            <a:off x="5653793" y="6166894"/>
            <a:ext cx="3451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Chen E.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(2013) </a:t>
            </a:r>
            <a:r>
              <a:rPr lang="en-US" i="1" dirty="0">
                <a:latin typeface="Univers Light" panose="020B0403020202020204" pitchFamily="34" charset="0"/>
              </a:rPr>
              <a:t>BMC Bioinformatics</a:t>
            </a:r>
          </a:p>
        </p:txBody>
      </p:sp>
      <p:pic>
        <p:nvPicPr>
          <p:cNvPr id="11" name="Picture 10" descr="A mathematical symbols and symbols&#10;&#10;AI-generated content may be incorrect.">
            <a:extLst>
              <a:ext uri="{FF2B5EF4-FFF2-40B4-BE49-F238E27FC236}">
                <a16:creationId xmlns:a16="http://schemas.microsoft.com/office/drawing/2014/main" id="{4F965D97-FD10-1A32-DD1F-82C072C1F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793" y="4706920"/>
            <a:ext cx="3036976" cy="120947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902D0D-06B4-57D3-CF47-76DD1B3A8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0792" y="1807745"/>
            <a:ext cx="6424006" cy="1909232"/>
          </a:xfrm>
          <a:prstGeom prst="rect">
            <a:avLst/>
          </a:prstGeom>
        </p:spPr>
      </p:pic>
      <p:pic>
        <p:nvPicPr>
          <p:cNvPr id="17" name="Picture 1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D765D25C-A70D-1D33-614C-6FC0CD7B03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440" y="4141356"/>
            <a:ext cx="5171722" cy="137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363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DF89EB41-B371-99CE-2B7B-07DA7C106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D97A9FD5-8EE8-362E-68E9-BD7021A88C6C}"/>
              </a:ext>
            </a:extLst>
          </p:cNvPr>
          <p:cNvSpPr txBox="1"/>
          <p:nvPr/>
        </p:nvSpPr>
        <p:spPr>
          <a:xfrm>
            <a:off x="279052" y="1307912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</a:t>
            </a:r>
            <a:r>
              <a:rPr lang="en-CA" sz="2800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2</a:t>
            </a: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: </a:t>
            </a: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GSEA and ORA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A58BA92-1ABC-8311-7661-FD2465C10D65}"/>
              </a:ext>
            </a:extLst>
          </p:cNvPr>
          <p:cNvSpPr txBox="1"/>
          <p:nvPr/>
        </p:nvSpPr>
        <p:spPr>
          <a:xfrm>
            <a:off x="512064" y="2351984"/>
            <a:ext cx="4349268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Statistical concepts used in GSEA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Statistical concepts used in ORA</a:t>
            </a: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Univers Light" panose="020B0403020202020204" pitchFamily="34" charset="0"/>
              </a:rPr>
              <a:t>When to use GSEA or ORA?</a:t>
            </a:r>
          </a:p>
          <a:p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2">
                  <a:lumMod val="40000"/>
                  <a:lumOff val="60000"/>
                </a:schemeClr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40000"/>
                    <a:lumOff val="60000"/>
                  </a:schemeClr>
                </a:solidFill>
                <a:latin typeface="Univers Light" panose="020B0403020202020204" pitchFamily="34" charset="0"/>
              </a:rPr>
              <a:t>Hands-on activity 2</a:t>
            </a:r>
          </a:p>
        </p:txBody>
      </p:sp>
    </p:spTree>
    <p:extLst>
      <p:ext uri="{BB962C8B-B14F-4D97-AF65-F5344CB8AC3E}">
        <p14:creationId xmlns:p14="http://schemas.microsoft.com/office/powerpoint/2010/main" val="26069574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A3A90-5075-21E3-3F9F-1F5B61574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D93DD75B-CA7D-E9FB-C84A-0D379700149C}"/>
              </a:ext>
            </a:extLst>
          </p:cNvPr>
          <p:cNvSpPr txBox="1"/>
          <p:nvPr/>
        </p:nvSpPr>
        <p:spPr>
          <a:xfrm>
            <a:off x="160299" y="383329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When to use GSEA or ORA?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C4ACAA-E2D0-656D-18B6-A46AA8451B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16944"/>
              </p:ext>
            </p:extLst>
          </p:nvPr>
        </p:nvGraphicFramePr>
        <p:xfrm>
          <a:off x="505002" y="1524693"/>
          <a:ext cx="7715394" cy="243020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571798">
                  <a:extLst>
                    <a:ext uri="{9D8B030D-6E8A-4147-A177-3AD203B41FA5}">
                      <a16:colId xmlns:a16="http://schemas.microsoft.com/office/drawing/2014/main" val="1379778557"/>
                    </a:ext>
                  </a:extLst>
                </a:gridCol>
                <a:gridCol w="2571798">
                  <a:extLst>
                    <a:ext uri="{9D8B030D-6E8A-4147-A177-3AD203B41FA5}">
                      <a16:colId xmlns:a16="http://schemas.microsoft.com/office/drawing/2014/main" val="3718417754"/>
                    </a:ext>
                  </a:extLst>
                </a:gridCol>
                <a:gridCol w="2571798">
                  <a:extLst>
                    <a:ext uri="{9D8B030D-6E8A-4147-A177-3AD203B41FA5}">
                      <a16:colId xmlns:a16="http://schemas.microsoft.com/office/drawing/2014/main" val="4191308162"/>
                    </a:ext>
                  </a:extLst>
                </a:gridCol>
              </a:tblGrid>
              <a:tr h="376005">
                <a:tc>
                  <a:txBody>
                    <a:bodyPr/>
                    <a:lstStyle/>
                    <a:p>
                      <a:endParaRPr lang="en-US" sz="1600" dirty="0">
                        <a:latin typeface="Univers Light" panose="020B04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GSEA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ORA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972648"/>
                  </a:ext>
                </a:extLst>
              </a:tr>
              <a:tr h="61562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Ranked list of all genes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Significant gene list + background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224070"/>
                  </a:ext>
                </a:extLst>
              </a:tr>
              <a:tr h="44059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Test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Univers Light" panose="020B0403020202020204" pitchFamily="34" charset="0"/>
                        </a:rPr>
                        <a:t>Running-sum enrichment score + permutation</a:t>
                      </a:r>
                    </a:p>
                    <a:p>
                      <a:endParaRPr lang="en-US" sz="1600" dirty="0">
                        <a:latin typeface="Univers Light" panose="020B04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Univers Light" panose="020B0403020202020204" pitchFamily="34" charset="0"/>
                        </a:rPr>
                        <a:t>Hypergeometric</a:t>
                      </a:r>
                    </a:p>
                    <a:p>
                      <a:endParaRPr lang="en-US" sz="1600" dirty="0">
                        <a:latin typeface="Univers Light" panose="020B0403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83159"/>
                  </a:ext>
                </a:extLst>
              </a:tr>
              <a:tr h="61562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Uses cutoff?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Yes(DE)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628394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8D00F3D-8A16-ED7B-A9C4-3F557DAE8761}"/>
              </a:ext>
            </a:extLst>
          </p:cNvPr>
          <p:cNvSpPr txBox="1"/>
          <p:nvPr/>
        </p:nvSpPr>
        <p:spPr>
          <a:xfrm>
            <a:off x="294483" y="4132978"/>
            <a:ext cx="85550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ORA asks: Are my DE genes enriched in this pathway?</a:t>
            </a:r>
          </a:p>
          <a:p>
            <a:endParaRPr lang="en-US" sz="18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r>
              <a:rPr lang="en-US" sz="1800" dirty="0">
                <a:solidFill>
                  <a:srgbClr val="001D35"/>
                </a:solidFill>
                <a:latin typeface="Univers Light" panose="020B0403020202020204" pitchFamily="34" charset="0"/>
              </a:rPr>
              <a:t>GSEA asks: Are genes from this pathway enriched towards the top or bottom of the ranked list?</a:t>
            </a:r>
            <a:endParaRPr lang="en-CA" sz="18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0624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192f3904c50_0_26"/>
          <p:cNvSpPr txBox="1"/>
          <p:nvPr/>
        </p:nvSpPr>
        <p:spPr>
          <a:xfrm>
            <a:off x="700400" y="2407600"/>
            <a:ext cx="5865900" cy="8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600"/>
              <a:buFont typeface="Arial"/>
              <a:buNone/>
            </a:pPr>
            <a:r>
              <a:rPr lang="en-CA" sz="4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Hands-on 2</a:t>
            </a:r>
            <a:endParaRPr sz="4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0" name="Google Shape;490;g192f3904c50_0_26" descr="Programmer female with solid fil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6695" y="1034391"/>
            <a:ext cx="3863009" cy="38630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085929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2334570D-7938-367D-833E-098435DD3D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9F1F5C5D-AE02-4278-1D07-9765B8B19C2E}"/>
              </a:ext>
            </a:extLst>
          </p:cNvPr>
          <p:cNvSpPr txBox="1"/>
          <p:nvPr/>
        </p:nvSpPr>
        <p:spPr>
          <a:xfrm>
            <a:off x="279052" y="1307912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</a:t>
            </a:r>
            <a:r>
              <a:rPr lang="en-CA" sz="2800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3</a:t>
            </a: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: </a:t>
            </a: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Resources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4FE091-59A5-E8E0-4CCB-F750C4B6DD01}"/>
              </a:ext>
            </a:extLst>
          </p:cNvPr>
          <p:cNvSpPr txBox="1"/>
          <p:nvPr/>
        </p:nvSpPr>
        <p:spPr>
          <a:xfrm>
            <a:off x="823531" y="2626211"/>
            <a:ext cx="7315842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rgbClr val="001D35"/>
                </a:solidFill>
                <a:latin typeface="Univers Light" panose="020B0403020202020204" pitchFamily="34" charset="0"/>
                <a:hlinkClick r:id="rId3"/>
              </a:rPr>
              <a:t>MsigDB</a:t>
            </a:r>
            <a:endParaRPr lang="en-US" sz="24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r>
              <a:rPr lang="en-US" sz="2400" dirty="0">
                <a:solidFill>
                  <a:srgbClr val="001D35"/>
                </a:solidFill>
                <a:latin typeface="Univers Light" panose="020B0403020202020204" pitchFamily="34" charset="0"/>
                <a:hlinkClick r:id="rId4"/>
              </a:rPr>
              <a:t>Gene Ontology</a:t>
            </a:r>
            <a:endParaRPr lang="en-US" sz="24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r>
              <a:rPr lang="en-US" sz="2400" dirty="0">
                <a:solidFill>
                  <a:srgbClr val="001D35"/>
                </a:solidFill>
                <a:latin typeface="Univers Light" panose="020B0403020202020204" pitchFamily="34" charset="0"/>
                <a:hlinkClick r:id="rId5"/>
              </a:rPr>
              <a:t>KEGG</a:t>
            </a:r>
            <a:endParaRPr lang="en-US" sz="24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r>
              <a:rPr lang="en-US" sz="2400" dirty="0" err="1">
                <a:solidFill>
                  <a:srgbClr val="001D35"/>
                </a:solidFill>
                <a:latin typeface="Univers Light" panose="020B0403020202020204" pitchFamily="34" charset="0"/>
                <a:hlinkClick r:id="rId6"/>
              </a:rPr>
              <a:t>Reactome</a:t>
            </a:r>
            <a:endParaRPr lang="en-US" sz="24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r>
              <a:rPr lang="en-US" sz="2400" dirty="0" err="1">
                <a:solidFill>
                  <a:srgbClr val="001D35"/>
                </a:solidFill>
                <a:latin typeface="Univers Light" panose="020B0403020202020204" pitchFamily="34" charset="0"/>
                <a:hlinkClick r:id="rId7"/>
              </a:rPr>
              <a:t>Enrichr</a:t>
            </a:r>
            <a:endParaRPr lang="en-US" sz="24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r>
              <a:rPr lang="en-US" sz="2400" dirty="0">
                <a:solidFill>
                  <a:srgbClr val="001D35"/>
                </a:solidFill>
                <a:latin typeface="Univers Light" panose="020B0403020202020204" pitchFamily="34" charset="0"/>
                <a:hlinkClick r:id="rId8"/>
              </a:rPr>
              <a:t>Panther</a:t>
            </a:r>
            <a:r>
              <a:rPr lang="en-US" sz="2400" dirty="0">
                <a:solidFill>
                  <a:srgbClr val="001D35"/>
                </a:solidFill>
                <a:latin typeface="Univers Light" panose="020B0403020202020204" pitchFamily="34" charset="0"/>
              </a:rPr>
              <a:t>  </a:t>
            </a:r>
          </a:p>
          <a:p>
            <a:endParaRPr lang="en-US" sz="20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endParaRPr lang="en-CA" sz="2000" dirty="0">
              <a:latin typeface="Univers Light" panose="020B0403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2E602B-B97E-32BF-AB2B-4B029A4DE3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8349" y="1932677"/>
            <a:ext cx="3092609" cy="10668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FD309F-9D55-6F48-FAAA-AE251E47B0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76536" y="3486085"/>
            <a:ext cx="2438525" cy="8064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CC4C9B-A141-D0F7-E924-59FDF2373B1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92480" y="4286373"/>
            <a:ext cx="1759040" cy="12637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5551B40-ABF9-59AC-8B6D-0EA5527604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824996" y="4592789"/>
            <a:ext cx="3196147" cy="7866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C93EBF-4623-894E-7521-96DB2F7261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16437" y="2127615"/>
            <a:ext cx="2789339" cy="640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60985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>
          <a:extLst>
            <a:ext uri="{FF2B5EF4-FFF2-40B4-BE49-F238E27FC236}">
              <a16:creationId xmlns:a16="http://schemas.microsoft.com/office/drawing/2014/main" id="{2AA1E978-2835-F3A2-B77B-22BD2615E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>
            <a:extLst>
              <a:ext uri="{FF2B5EF4-FFF2-40B4-BE49-F238E27FC236}">
                <a16:creationId xmlns:a16="http://schemas.microsoft.com/office/drawing/2014/main" id="{2648CC4A-9233-371B-FDFF-F57641385DED}"/>
              </a:ext>
            </a:extLst>
          </p:cNvPr>
          <p:cNvSpPr txBox="1"/>
          <p:nvPr/>
        </p:nvSpPr>
        <p:spPr>
          <a:xfrm>
            <a:off x="279052" y="1307912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E06666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Part 4: </a:t>
            </a: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Concluding remarks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1A842-253E-A8A4-3846-0A9DE48435AC}"/>
              </a:ext>
            </a:extLst>
          </p:cNvPr>
          <p:cNvSpPr txBox="1"/>
          <p:nvPr/>
        </p:nvSpPr>
        <p:spPr>
          <a:xfrm>
            <a:off x="672432" y="2379989"/>
            <a:ext cx="761803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1D35"/>
                </a:solidFill>
                <a:latin typeface="Univers Light" panose="020B0403020202020204" pitchFamily="34" charset="0"/>
              </a:rPr>
              <a:t>Now you are ready to:</a:t>
            </a:r>
          </a:p>
          <a:p>
            <a:endParaRPr lang="en-US" sz="20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1D35"/>
                </a:solidFill>
                <a:latin typeface="Univers Light" panose="020B0403020202020204" pitchFamily="34" charset="0"/>
              </a:rPr>
              <a:t>Perform a standard </a:t>
            </a:r>
            <a:r>
              <a:rPr lang="en-US" sz="2000" b="1" dirty="0">
                <a:solidFill>
                  <a:srgbClr val="001D35"/>
                </a:solidFill>
                <a:latin typeface="Univers Light" panose="020B0403020202020204" pitchFamily="34" charset="0"/>
              </a:rPr>
              <a:t>DGE</a:t>
            </a:r>
            <a:r>
              <a:rPr lang="en-US" sz="2000" dirty="0">
                <a:solidFill>
                  <a:srgbClr val="001D35"/>
                </a:solidFill>
                <a:latin typeface="Univers Light" panose="020B0403020202020204" pitchFamily="34" charset="0"/>
              </a:rPr>
              <a:t>, </a:t>
            </a:r>
            <a:r>
              <a:rPr lang="en-US" sz="2000" b="1" dirty="0">
                <a:solidFill>
                  <a:srgbClr val="001D35"/>
                </a:solidFill>
                <a:latin typeface="Univers Light" panose="020B0403020202020204" pitchFamily="34" charset="0"/>
              </a:rPr>
              <a:t>GSEA</a:t>
            </a:r>
            <a:r>
              <a:rPr lang="en-US" sz="2000" dirty="0">
                <a:solidFill>
                  <a:srgbClr val="001D35"/>
                </a:solidFill>
                <a:latin typeface="Univers Light" panose="020B0403020202020204" pitchFamily="34" charset="0"/>
              </a:rPr>
              <a:t> and </a:t>
            </a:r>
            <a:r>
              <a:rPr lang="en-US" sz="2000" b="1" dirty="0">
                <a:solidFill>
                  <a:srgbClr val="001D35"/>
                </a:solidFill>
                <a:latin typeface="Univers Light" panose="020B0403020202020204" pitchFamily="34" charset="0"/>
              </a:rPr>
              <a:t>ORA </a:t>
            </a:r>
            <a:r>
              <a:rPr lang="en-US" sz="2000" dirty="0">
                <a:solidFill>
                  <a:srgbClr val="001D35"/>
                </a:solidFill>
                <a:latin typeface="Univers Light" panose="020B0403020202020204" pitchFamily="34" charset="0"/>
              </a:rPr>
              <a:t>analyses</a:t>
            </a:r>
            <a:endParaRPr lang="en-US" sz="2000" b="1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1D35"/>
                </a:solidFill>
                <a:latin typeface="Univers Light" panose="020B0403020202020204" pitchFamily="34" charset="0"/>
              </a:rPr>
              <a:t>Modify design matrices to address biological questions</a:t>
            </a:r>
          </a:p>
          <a:p>
            <a:endParaRPr lang="en-US" sz="20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001D35"/>
                </a:solidFill>
                <a:latin typeface="Univers Light" panose="020B0403020202020204" pitchFamily="34" charset="0"/>
              </a:rPr>
              <a:t>Choose between GSEA and ORA depending on the question at hand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01D35"/>
              </a:solidFill>
              <a:latin typeface="Univers Light" panose="020B0403020202020204" pitchFamily="34" charset="0"/>
            </a:endParaRPr>
          </a:p>
          <a:p>
            <a:endParaRPr lang="en-CA" sz="2000" dirty="0">
              <a:latin typeface="Univers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2867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" name="Google Shape;763;g19442820507_0_1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04730" y="1636294"/>
            <a:ext cx="3774668" cy="1383957"/>
          </a:xfrm>
          <a:prstGeom prst="rect">
            <a:avLst/>
          </a:prstGeom>
          <a:noFill/>
          <a:ln>
            <a:noFill/>
          </a:ln>
        </p:spPr>
      </p:pic>
      <p:sp>
        <p:nvSpPr>
          <p:cNvPr id="764" name="Google Shape;764;g19442820507_0_159"/>
          <p:cNvSpPr txBox="1"/>
          <p:nvPr/>
        </p:nvSpPr>
        <p:spPr>
          <a:xfrm>
            <a:off x="274597" y="1807055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2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Thanks for your attention!</a:t>
            </a:r>
            <a:endParaRPr sz="2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766" name="Google Shape;766;g19442820507_0_159"/>
          <p:cNvSpPr txBox="1"/>
          <p:nvPr/>
        </p:nvSpPr>
        <p:spPr>
          <a:xfrm>
            <a:off x="487975" y="3168533"/>
            <a:ext cx="84048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1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Keep an eye for the workshops offered by the </a:t>
            </a:r>
            <a:r>
              <a:rPr lang="en-CA" sz="1800" b="0" i="0" u="none" strike="noStrike" cap="none" dirty="0" err="1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MiCM</a:t>
            </a:r>
            <a:r>
              <a:rPr lang="en-CA" sz="1800" b="0" i="0" u="none" strike="noStrike" cap="none" dirty="0">
                <a:solidFill>
                  <a:srgbClr val="000000"/>
                </a:solidFill>
                <a:latin typeface="Univers Light" panose="020B0403020202020204" pitchFamily="34" charset="0"/>
                <a:sym typeface="Arial"/>
              </a:rPr>
              <a:t>!</a:t>
            </a:r>
            <a:endParaRPr sz="1800" b="0" i="0" u="none" strike="noStrike" cap="none" dirty="0">
              <a:solidFill>
                <a:srgbClr val="000000"/>
              </a:solidFill>
              <a:latin typeface="Univers Light" panose="020B0403020202020204" pitchFamily="34" charset="0"/>
              <a:sym typeface="Arial"/>
            </a:endParaRPr>
          </a:p>
        </p:txBody>
      </p:sp>
      <p:sp>
        <p:nvSpPr>
          <p:cNvPr id="767" name="Google Shape;767;g19442820507_0_159"/>
          <p:cNvSpPr txBox="1"/>
          <p:nvPr/>
        </p:nvSpPr>
        <p:spPr>
          <a:xfrm>
            <a:off x="6212119" y="3083684"/>
            <a:ext cx="2931881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info-micm@mcgill.ca</a:t>
            </a:r>
            <a:r>
              <a:rPr lang="en-CA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CA" sz="16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https://www.mcgill.ca/micm/</a:t>
            </a:r>
            <a:r>
              <a:rPr lang="en-CA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 descr="A logo with text on it&#10;&#10;AI-generated content may be incorrect.">
            <a:extLst>
              <a:ext uri="{FF2B5EF4-FFF2-40B4-BE49-F238E27FC236}">
                <a16:creationId xmlns:a16="http://schemas.microsoft.com/office/drawing/2014/main" id="{75AC6830-7155-BDB2-F8DF-959E191DD4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750" y="5506833"/>
            <a:ext cx="4056488" cy="8966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867FB2-330F-8BC8-5F8B-6202992C75C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6119" y="4006516"/>
            <a:ext cx="3467753" cy="19158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32418F-B043-9104-198C-160E50DB7B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636" y="4531138"/>
            <a:ext cx="5148291" cy="77224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9473D42-D2B4-C53D-8EA4-1EB3791146D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68786" y="5383233"/>
            <a:ext cx="3764464" cy="1078217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74;g192f3904c50_0_11">
            <a:extLst>
              <a:ext uri="{FF2B5EF4-FFF2-40B4-BE49-F238E27FC236}">
                <a16:creationId xmlns:a16="http://schemas.microsoft.com/office/drawing/2014/main" id="{2FF74056-E887-53F0-9881-E50597E2CD62}"/>
              </a:ext>
            </a:extLst>
          </p:cNvPr>
          <p:cNvSpPr txBox="1"/>
          <p:nvPr/>
        </p:nvSpPr>
        <p:spPr>
          <a:xfrm>
            <a:off x="195925" y="274759"/>
            <a:ext cx="84048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CA" sz="2800" i="0" u="none" strike="noStrike" cap="none" dirty="0">
                <a:solidFill>
                  <a:schemeClr val="tx1"/>
                </a:solidFill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  <a:sym typeface="Arial"/>
              </a:rPr>
              <a:t>References</a:t>
            </a:r>
            <a:endParaRPr sz="2800" i="0" u="none" strike="noStrike" cap="none" dirty="0">
              <a:solidFill>
                <a:schemeClr val="tx1"/>
              </a:solidFill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F02CE3-C9B0-561C-08DB-9A9F326D3570}"/>
              </a:ext>
            </a:extLst>
          </p:cNvPr>
          <p:cNvSpPr txBox="1"/>
          <p:nvPr/>
        </p:nvSpPr>
        <p:spPr>
          <a:xfrm>
            <a:off x="427513" y="1246910"/>
            <a:ext cx="770708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Love, M., Anders, S., &amp; Huber, W. (2014). Differential analysis of count data–the DESeq2 package. </a:t>
            </a:r>
            <a:r>
              <a:rPr lang="en-US" i="1" dirty="0"/>
              <a:t>Genome Biol</a:t>
            </a:r>
            <a:r>
              <a:rPr lang="en-US" dirty="0"/>
              <a:t>, </a:t>
            </a:r>
            <a:r>
              <a:rPr lang="en-US" i="1" dirty="0"/>
              <a:t>15</a:t>
            </a:r>
            <a:r>
              <a:rPr lang="en-US" dirty="0"/>
              <a:t>(550), 10-1186.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Subramanian, A., Kuehn, H., Gould, J., Tamayo, P., &amp; </a:t>
            </a:r>
            <a:r>
              <a:rPr lang="en-CA" dirty="0" err="1"/>
              <a:t>Mesirov</a:t>
            </a:r>
            <a:r>
              <a:rPr lang="en-CA" dirty="0"/>
              <a:t>, J. P. (2007). GSEA-P: a desktop application for Gene Set Enrichment Analysis. </a:t>
            </a:r>
            <a:r>
              <a:rPr lang="en-CA" i="1" dirty="0"/>
              <a:t>Bioinformatics</a:t>
            </a:r>
            <a:r>
              <a:rPr lang="en-CA" dirty="0"/>
              <a:t>, </a:t>
            </a:r>
            <a:r>
              <a:rPr lang="en-CA" i="1" dirty="0"/>
              <a:t>23</a:t>
            </a:r>
            <a:r>
              <a:rPr lang="en-CA" dirty="0"/>
              <a:t>(23), 3251-3253.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Chen, E. Y., Tan, C. M., Kou, Y., Duan, Q., Wang, Z., Meirelles, G. V., ... &amp; Ma’ayan, A. (2013). </a:t>
            </a:r>
            <a:r>
              <a:rPr lang="en-CA" dirty="0" err="1"/>
              <a:t>Enrichr</a:t>
            </a:r>
            <a:r>
              <a:rPr lang="en-CA" dirty="0"/>
              <a:t>: interactive and collaborative HTML5 gene list enrichment analysis tool. </a:t>
            </a:r>
            <a:r>
              <a:rPr lang="en-CA" i="1" dirty="0"/>
              <a:t>BMC bioinformatics</a:t>
            </a:r>
            <a:r>
              <a:rPr lang="en-CA" dirty="0"/>
              <a:t>, </a:t>
            </a:r>
            <a:r>
              <a:rPr lang="en-CA" i="1" dirty="0"/>
              <a:t>14</a:t>
            </a:r>
            <a:r>
              <a:rPr lang="en-CA" dirty="0"/>
              <a:t>(1), 128.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Law, C. W., </a:t>
            </a:r>
            <a:r>
              <a:rPr lang="en-US" dirty="0" err="1"/>
              <a:t>Zeglinski</a:t>
            </a:r>
            <a:r>
              <a:rPr lang="en-US" dirty="0"/>
              <a:t>, K., Dong, X., </a:t>
            </a:r>
            <a:r>
              <a:rPr lang="en-US" dirty="0" err="1"/>
              <a:t>Alhamdoosh</a:t>
            </a:r>
            <a:r>
              <a:rPr lang="en-US" dirty="0"/>
              <a:t>, M., Smyth, G. K., &amp; Ritchie, M. E. (2020). A guide to creating design matrices for gene expression experiments. </a:t>
            </a:r>
            <a:r>
              <a:rPr lang="en-US" i="1" dirty="0"/>
              <a:t>F1000Research</a:t>
            </a:r>
            <a:r>
              <a:rPr lang="en-US" dirty="0"/>
              <a:t>, </a:t>
            </a:r>
            <a:r>
              <a:rPr lang="en-US" i="1" dirty="0"/>
              <a:t>9</a:t>
            </a:r>
            <a:r>
              <a:rPr lang="en-US" dirty="0"/>
              <a:t>, 1444.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909285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C714C-CCF0-BE17-FE96-4A14B4103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0067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1BC73CD3-68A3-B246-9029-620DD11283D9}"/>
              </a:ext>
            </a:extLst>
          </p:cNvPr>
          <p:cNvSpPr txBox="1"/>
          <p:nvPr/>
        </p:nvSpPr>
        <p:spPr>
          <a:xfrm>
            <a:off x="234984" y="1218447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2040204020203" pitchFamily="34" charset="0"/>
                <a:ea typeface="Kigelia" panose="020B0502040204020203" pitchFamily="34" charset="0"/>
                <a:cs typeface="Kigelia" panose="020B0502040204020203" pitchFamily="34" charset="0"/>
              </a:rPr>
              <a:t>Normalization in DESeq2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CAE22E-A6F6-4744-92DA-BA4C3A243151}"/>
              </a:ext>
            </a:extLst>
          </p:cNvPr>
          <p:cNvSpPr txBox="1"/>
          <p:nvPr/>
        </p:nvSpPr>
        <p:spPr>
          <a:xfrm>
            <a:off x="5632704" y="5986272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Love, M. </a:t>
            </a:r>
            <a:r>
              <a:rPr lang="en-US" i="1" dirty="0"/>
              <a:t>et al</a:t>
            </a:r>
            <a:r>
              <a:rPr lang="en-US" dirty="0"/>
              <a:t> (2014) </a:t>
            </a:r>
            <a:r>
              <a:rPr lang="en-US" i="1" dirty="0"/>
              <a:t>Genome Biology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155F08-956C-6A42-AA9C-E34F851A7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94" y="2628291"/>
            <a:ext cx="1536700" cy="609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B663930-15B0-DA42-9ED9-D9B3F759199C}"/>
              </a:ext>
            </a:extLst>
          </p:cNvPr>
          <p:cNvSpPr txBox="1"/>
          <p:nvPr/>
        </p:nvSpPr>
        <p:spPr>
          <a:xfrm>
            <a:off x="370181" y="2049581"/>
            <a:ext cx="18517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Median of ratios</a:t>
            </a:r>
          </a:p>
        </p:txBody>
      </p:sp>
      <p:pic>
        <p:nvPicPr>
          <p:cNvPr id="2" name="Picture 1" descr="A close-up of a text&#10;&#10;AI-generated content may be incorrect.">
            <a:extLst>
              <a:ext uri="{FF2B5EF4-FFF2-40B4-BE49-F238E27FC236}">
                <a16:creationId xmlns:a16="http://schemas.microsoft.com/office/drawing/2014/main" id="{474A5C6F-7623-BA4B-2E95-6DE31F829B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5578"/>
          <a:stretch>
            <a:fillRect/>
          </a:stretch>
        </p:blipFill>
        <p:spPr>
          <a:xfrm>
            <a:off x="370181" y="4762493"/>
            <a:ext cx="5155007" cy="1672297"/>
          </a:xfrm>
          <a:prstGeom prst="rect">
            <a:avLst/>
          </a:prstGeom>
        </p:spPr>
      </p:pic>
      <p:pic>
        <p:nvPicPr>
          <p:cNvPr id="6" name="Picture 5" descr="A close up of words&#10;&#10;AI-generated content may be incorrect.">
            <a:extLst>
              <a:ext uri="{FF2B5EF4-FFF2-40B4-BE49-F238E27FC236}">
                <a16:creationId xmlns:a16="http://schemas.microsoft.com/office/drawing/2014/main" id="{2440E7C9-0267-8834-78CF-823C909B67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94" y="3096282"/>
            <a:ext cx="5694511" cy="130160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48108A0-3B57-005F-3FA4-33DC38DDA77C}"/>
              </a:ext>
            </a:extLst>
          </p:cNvPr>
          <p:cNvSpPr/>
          <p:nvPr/>
        </p:nvSpPr>
        <p:spPr>
          <a:xfrm>
            <a:off x="3723701" y="3096282"/>
            <a:ext cx="2423711" cy="130160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878313-E52C-D9DC-0D77-B30475668261}"/>
              </a:ext>
            </a:extLst>
          </p:cNvPr>
          <p:cNvSpPr txBox="1"/>
          <p:nvPr/>
        </p:nvSpPr>
        <p:spPr>
          <a:xfrm>
            <a:off x="6122752" y="4393161"/>
            <a:ext cx="1903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Geometric mean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7C8F6D-02D3-E360-17CF-DA5DF19A8B27}"/>
              </a:ext>
            </a:extLst>
          </p:cNvPr>
          <p:cNvSpPr/>
          <p:nvPr/>
        </p:nvSpPr>
        <p:spPr>
          <a:xfrm>
            <a:off x="1406244" y="2697981"/>
            <a:ext cx="315054" cy="369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3D57D0-8EA8-BE55-9EB3-0E18D8FE50E6}"/>
              </a:ext>
            </a:extLst>
          </p:cNvPr>
          <p:cNvSpPr txBox="1"/>
          <p:nvPr/>
        </p:nvSpPr>
        <p:spPr>
          <a:xfrm>
            <a:off x="955007" y="3096282"/>
            <a:ext cx="1261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Univers Light" panose="020B0403020202020204" pitchFamily="34" charset="0"/>
              </a:rPr>
              <a:t>Size factor</a:t>
            </a:r>
          </a:p>
        </p:txBody>
      </p:sp>
    </p:spTree>
    <p:extLst>
      <p:ext uri="{BB962C8B-B14F-4D97-AF65-F5344CB8AC3E}">
        <p14:creationId xmlns:p14="http://schemas.microsoft.com/office/powerpoint/2010/main" val="12199596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92f3904c50_0_11"/>
          <p:cNvSpPr txBox="1"/>
          <p:nvPr/>
        </p:nvSpPr>
        <p:spPr>
          <a:xfrm>
            <a:off x="279052" y="1307912"/>
            <a:ext cx="8404800" cy="1046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2800" dirty="0">
                <a:latin typeface="Kigelia" panose="020B0502040204020203" pitchFamily="34" charset="0"/>
                <a:ea typeface="Kigelia" panose="020B0502040204020203" pitchFamily="34" charset="0"/>
                <a:cs typeface="Kigelia" panose="020B0502040204020203" pitchFamily="34" charset="0"/>
              </a:rPr>
              <a:t>Statistical modelling concepts used in DESeq2 and its differences with respect to </a:t>
            </a:r>
            <a:r>
              <a:rPr lang="en-CA" sz="2800" dirty="0" err="1">
                <a:latin typeface="Kigelia" panose="020B0502040204020203" pitchFamily="34" charset="0"/>
                <a:ea typeface="Kigelia" panose="020B0502040204020203" pitchFamily="34" charset="0"/>
                <a:cs typeface="Kigelia" panose="020B0502040204020203" pitchFamily="34" charset="0"/>
              </a:rPr>
              <a:t>edgeR</a:t>
            </a:r>
            <a:endParaRPr lang="en-CA" sz="2800" dirty="0">
              <a:latin typeface="Kigelia" panose="020B0502040204020203" pitchFamily="34" charset="0"/>
              <a:ea typeface="Kigelia" panose="020B0502040204020203" pitchFamily="34" charset="0"/>
              <a:cs typeface="Kigelia" panose="020B0502040204020203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8522B0-CCB7-9344-BD1C-D22EF6D68F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4124232"/>
              </p:ext>
            </p:extLst>
          </p:nvPr>
        </p:nvGraphicFramePr>
        <p:xfrm>
          <a:off x="443031" y="2807229"/>
          <a:ext cx="7715394" cy="2742859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571798">
                  <a:extLst>
                    <a:ext uri="{9D8B030D-6E8A-4147-A177-3AD203B41FA5}">
                      <a16:colId xmlns:a16="http://schemas.microsoft.com/office/drawing/2014/main" val="1379778557"/>
                    </a:ext>
                  </a:extLst>
                </a:gridCol>
                <a:gridCol w="2571798">
                  <a:extLst>
                    <a:ext uri="{9D8B030D-6E8A-4147-A177-3AD203B41FA5}">
                      <a16:colId xmlns:a16="http://schemas.microsoft.com/office/drawing/2014/main" val="3718417754"/>
                    </a:ext>
                  </a:extLst>
                </a:gridCol>
                <a:gridCol w="2571798">
                  <a:extLst>
                    <a:ext uri="{9D8B030D-6E8A-4147-A177-3AD203B41FA5}">
                      <a16:colId xmlns:a16="http://schemas.microsoft.com/office/drawing/2014/main" val="4191308162"/>
                    </a:ext>
                  </a:extLst>
                </a:gridCol>
              </a:tblGrid>
              <a:tr h="376005">
                <a:tc>
                  <a:txBody>
                    <a:bodyPr/>
                    <a:lstStyle/>
                    <a:p>
                      <a:endParaRPr lang="en-US" sz="1600" dirty="0">
                        <a:latin typeface="Univers Light" panose="020B04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Univers Light" panose="020B0403020202020204" pitchFamily="34" charset="0"/>
                        </a:rPr>
                        <a:t>edgeR</a:t>
                      </a:r>
                      <a:endParaRPr lang="en-US" sz="1600" dirty="0">
                        <a:latin typeface="Univers Light" panose="020B0403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DESeq2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2972648"/>
                  </a:ext>
                </a:extLst>
              </a:tr>
              <a:tr h="61562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Dispersion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Negative Binomial dispersions capture global trend, quasi-dispersions account for gene-specific variability.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Gene-specific dispersion shrunken towards the trend using a 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4224070"/>
                  </a:ext>
                </a:extLst>
              </a:tr>
              <a:tr h="44059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Normalization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TMM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Median of ratios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83159"/>
                  </a:ext>
                </a:extLst>
              </a:tr>
              <a:tr h="615622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Quasi-likelihood F-tests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Univers Light" panose="020B0403020202020204" pitchFamily="34" charset="0"/>
                        </a:rPr>
                        <a:t>Wald-tests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628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8375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85B27E5-1B21-79D6-DF58-7DC4D0A32438}"/>
              </a:ext>
            </a:extLst>
          </p:cNvPr>
          <p:cNvSpPr txBox="1">
            <a:spLocks/>
          </p:cNvSpPr>
          <p:nvPr/>
        </p:nvSpPr>
        <p:spPr>
          <a:xfrm>
            <a:off x="221026" y="154236"/>
            <a:ext cx="7886700" cy="1325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40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Uneven distribution of information</a:t>
            </a:r>
            <a:endParaRPr lang="en-US" sz="3200" dirty="0">
              <a:latin typeface="Kigelia" panose="020B0503040502020203" pitchFamily="34" charset="0"/>
              <a:ea typeface="Kigelia" panose="020B0503040502020203" pitchFamily="34" charset="0"/>
              <a:cs typeface="Kigelia" panose="020B0503040502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140D7D-1716-03AC-D5C3-3C4266D06B25}"/>
              </a:ext>
            </a:extLst>
          </p:cNvPr>
          <p:cNvSpPr txBox="1"/>
          <p:nvPr/>
        </p:nvSpPr>
        <p:spPr>
          <a:xfrm>
            <a:off x="5632704" y="5986272"/>
            <a:ext cx="31983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Love, M. </a:t>
            </a:r>
            <a:r>
              <a:rPr lang="en-US" i="1" dirty="0"/>
              <a:t>et al</a:t>
            </a:r>
            <a:r>
              <a:rPr lang="en-US" dirty="0"/>
              <a:t> (2014) </a:t>
            </a:r>
            <a:r>
              <a:rPr lang="en-US" i="1" dirty="0"/>
              <a:t>Genome Biology</a:t>
            </a:r>
          </a:p>
        </p:txBody>
      </p:sp>
      <p:pic>
        <p:nvPicPr>
          <p:cNvPr id="4" name="Picture 3" descr="A graph showing a number of points&#10;&#10;AI-generated content may be incorrect.">
            <a:extLst>
              <a:ext uri="{FF2B5EF4-FFF2-40B4-BE49-F238E27FC236}">
                <a16:creationId xmlns:a16="http://schemas.microsoft.com/office/drawing/2014/main" id="{56DE0DF8-97C7-C991-34F8-34F21EA1D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542" y="1126205"/>
            <a:ext cx="4519011" cy="4860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4882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574;g192f3904c50_0_11">
            <a:extLst>
              <a:ext uri="{FF2B5EF4-FFF2-40B4-BE49-F238E27FC236}">
                <a16:creationId xmlns:a16="http://schemas.microsoft.com/office/drawing/2014/main" id="{1BC73CD3-68A3-B246-9029-620DD11283D9}"/>
              </a:ext>
            </a:extLst>
          </p:cNvPr>
          <p:cNvSpPr txBox="1"/>
          <p:nvPr/>
        </p:nvSpPr>
        <p:spPr>
          <a:xfrm>
            <a:off x="279052" y="1307912"/>
            <a:ext cx="8404800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1"/>
            <a:r>
              <a:rPr lang="en-CA" sz="3200" dirty="0">
                <a:latin typeface="Kigelia" panose="020B0503040502020203" pitchFamily="34" charset="0"/>
                <a:ea typeface="Kigelia" panose="020B0503040502020203" pitchFamily="34" charset="0"/>
                <a:cs typeface="Kigelia" panose="020B0503040502020203" pitchFamily="34" charset="0"/>
              </a:rPr>
              <a:t>Shrinkage estimation of dispersion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F2F20E-3141-1D40-8CCB-B09BC5FCC927}"/>
              </a:ext>
            </a:extLst>
          </p:cNvPr>
          <p:cNvSpPr txBox="1"/>
          <p:nvPr/>
        </p:nvSpPr>
        <p:spPr>
          <a:xfrm>
            <a:off x="3881078" y="6096273"/>
            <a:ext cx="49680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Univers Light" panose="020B0403020202020204" pitchFamily="34" charset="0"/>
              </a:rPr>
              <a:t>Fig 1A, adapted from: Love, M. </a:t>
            </a:r>
            <a:r>
              <a:rPr lang="en-US" i="1" dirty="0">
                <a:latin typeface="Univers Light" panose="020B0403020202020204" pitchFamily="34" charset="0"/>
              </a:rPr>
              <a:t>et al</a:t>
            </a:r>
            <a:r>
              <a:rPr lang="en-US" dirty="0">
                <a:latin typeface="Univers Light" panose="020B0403020202020204" pitchFamily="34" charset="0"/>
              </a:rPr>
              <a:t> (2014) </a:t>
            </a:r>
            <a:r>
              <a:rPr lang="en-US" i="1" dirty="0">
                <a:latin typeface="Univers Light" panose="020B0403020202020204" pitchFamily="34" charset="0"/>
              </a:rPr>
              <a:t>Genome Biology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4047242-4011-EC44-95D1-1E1F9AC26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283" y="1984990"/>
            <a:ext cx="4003434" cy="4011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2077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leu vert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1373</Words>
  <Application>Microsoft Office PowerPoint</Application>
  <PresentationFormat>On-screen Show (4:3)</PresentationFormat>
  <Paragraphs>276</Paragraphs>
  <Slides>44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Univers Light</vt:lpstr>
      <vt:lpstr>Open Sans Light</vt:lpstr>
      <vt:lpstr>-apple-system</vt:lpstr>
      <vt:lpstr>Kigelia</vt:lpstr>
      <vt:lpstr>Arial</vt:lpstr>
      <vt:lpstr>Calibri</vt:lpstr>
      <vt:lpstr>Thème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Rachade Hmamouchi</dc:creator>
  <cp:lastModifiedBy>arielmadr@gmail.com</cp:lastModifiedBy>
  <cp:revision>27</cp:revision>
  <dcterms:created xsi:type="dcterms:W3CDTF">2019-07-29T14:54:16Z</dcterms:created>
  <dcterms:modified xsi:type="dcterms:W3CDTF">2026-06-03T18:54:39Z</dcterms:modified>
</cp:coreProperties>
</file>